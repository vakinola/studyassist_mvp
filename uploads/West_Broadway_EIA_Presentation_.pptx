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8" r:id="rId3"/>
    <p:sldId id="259" r:id="rId4"/>
    <p:sldId id="260" r:id="rId5"/>
    <p:sldId id="262" r:id="rId6"/>
    <p:sldId id="261" r:id="rId7"/>
    <p:sldId id="269" r:id="rId8"/>
    <p:sldId id="268" r:id="rId9"/>
    <p:sldId id="331" r:id="rId10"/>
    <p:sldId id="271" r:id="rId11"/>
    <p:sldId id="270" r:id="rId12"/>
    <p:sldId id="272" r:id="rId13"/>
    <p:sldId id="313" r:id="rId14"/>
    <p:sldId id="278" r:id="rId15"/>
    <p:sldId id="323" r:id="rId16"/>
    <p:sldId id="279" r:id="rId17"/>
    <p:sldId id="287" r:id="rId18"/>
    <p:sldId id="315" r:id="rId19"/>
    <p:sldId id="263" r:id="rId20"/>
    <p:sldId id="264" r:id="rId21"/>
    <p:sldId id="326" r:id="rId22"/>
    <p:sldId id="324" r:id="rId23"/>
    <p:sldId id="273" r:id="rId24"/>
    <p:sldId id="274" r:id="rId25"/>
    <p:sldId id="288" r:id="rId26"/>
    <p:sldId id="325" r:id="rId27"/>
    <p:sldId id="319" r:id="rId28"/>
    <p:sldId id="276" r:id="rId29"/>
    <p:sldId id="281" r:id="rId30"/>
    <p:sldId id="282" r:id="rId31"/>
    <p:sldId id="32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41A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6"/>
    <p:restoredTop sz="88794"/>
  </p:normalViewPr>
  <p:slideViewPr>
    <p:cSldViewPr snapToGrid="0">
      <p:cViewPr varScale="1">
        <p:scale>
          <a:sx n="123" d="100"/>
          <a:sy n="123" d="100"/>
        </p:scale>
        <p:origin x="101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EACF6D-42BE-41AE-9D77-D9ED8F549719}"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E9D6402B-89C0-4BC5-B4A9-54ADEC982A07}">
      <dgm:prSet/>
      <dgm:spPr/>
      <dgm:t>
        <a:bodyPr/>
        <a:lstStyle/>
        <a:p>
          <a:r>
            <a:rPr lang="en-CA" dirty="0"/>
            <a:t>Aged participants and participants with disabilities; </a:t>
          </a:r>
          <a:endParaRPr lang="en-US" dirty="0"/>
        </a:p>
      </dgm:t>
    </dgm:pt>
    <dgm:pt modelId="{7B4CE39C-0949-45AA-9F18-9EB64F65F693}" type="parTrans" cxnId="{D9A934C3-5755-4C8B-91A0-EFB5373E54B8}">
      <dgm:prSet/>
      <dgm:spPr/>
      <dgm:t>
        <a:bodyPr/>
        <a:lstStyle/>
        <a:p>
          <a:endParaRPr lang="en-US"/>
        </a:p>
      </dgm:t>
    </dgm:pt>
    <dgm:pt modelId="{357214E8-2000-468B-B7FD-0FB5E07BC4FF}" type="sibTrans" cxnId="{D9A934C3-5755-4C8B-91A0-EFB5373E54B8}">
      <dgm:prSet phldrT="01" phldr="0"/>
      <dgm:spPr/>
      <dgm:t>
        <a:bodyPr/>
        <a:lstStyle/>
        <a:p>
          <a:r>
            <a:rPr lang="en-US"/>
            <a:t>01</a:t>
          </a:r>
        </a:p>
      </dgm:t>
    </dgm:pt>
    <dgm:pt modelId="{D2FA3985-A7D1-4F38-921E-8537D65D87B2}">
      <dgm:prSet/>
      <dgm:spPr/>
      <dgm:t>
        <a:bodyPr/>
        <a:lstStyle/>
        <a:p>
          <a:r>
            <a:rPr lang="en-CA"/>
            <a:t>Children 17 &amp; 18 attending education or training; </a:t>
          </a:r>
          <a:endParaRPr lang="en-US"/>
        </a:p>
      </dgm:t>
    </dgm:pt>
    <dgm:pt modelId="{DD75660C-96C4-4212-A6DB-228865540A0F}" type="parTrans" cxnId="{1A3121E7-C6B1-4CB9-A78A-FB9234178FC8}">
      <dgm:prSet/>
      <dgm:spPr/>
      <dgm:t>
        <a:bodyPr/>
        <a:lstStyle/>
        <a:p>
          <a:endParaRPr lang="en-US"/>
        </a:p>
      </dgm:t>
    </dgm:pt>
    <dgm:pt modelId="{4799F62A-7255-4094-B02D-443BD083DABD}" type="sibTrans" cxnId="{1A3121E7-C6B1-4CB9-A78A-FB9234178FC8}">
      <dgm:prSet phldrT="02" phldr="0"/>
      <dgm:spPr/>
      <dgm:t>
        <a:bodyPr/>
        <a:lstStyle/>
        <a:p>
          <a:r>
            <a:rPr lang="en-US"/>
            <a:t>02</a:t>
          </a:r>
        </a:p>
      </dgm:t>
    </dgm:pt>
    <dgm:pt modelId="{DD4EA707-6AC7-4A92-88A7-099B3E6953D0}">
      <dgm:prSet/>
      <dgm:spPr/>
      <dgm:t>
        <a:bodyPr/>
        <a:lstStyle/>
        <a:p>
          <a:r>
            <a:rPr lang="en-CA"/>
            <a:t>Participants with dependants in need of special care; </a:t>
          </a:r>
          <a:endParaRPr lang="en-US"/>
        </a:p>
      </dgm:t>
    </dgm:pt>
    <dgm:pt modelId="{5AAA23F0-6852-40C5-AAE2-DE95361960B5}" type="parTrans" cxnId="{F526A666-0961-4AE7-BB43-1076E05DCB3E}">
      <dgm:prSet/>
      <dgm:spPr/>
      <dgm:t>
        <a:bodyPr/>
        <a:lstStyle/>
        <a:p>
          <a:endParaRPr lang="en-US"/>
        </a:p>
      </dgm:t>
    </dgm:pt>
    <dgm:pt modelId="{E13131FE-F08F-411F-9879-A49054405B03}" type="sibTrans" cxnId="{F526A666-0961-4AE7-BB43-1076E05DCB3E}">
      <dgm:prSet phldrT="03" phldr="0"/>
      <dgm:spPr/>
      <dgm:t>
        <a:bodyPr/>
        <a:lstStyle/>
        <a:p>
          <a:r>
            <a:rPr lang="en-US"/>
            <a:t>03</a:t>
          </a:r>
        </a:p>
      </dgm:t>
    </dgm:pt>
    <dgm:pt modelId="{F8B1A8EE-2C2D-4C31-B161-1184B50510BC}">
      <dgm:prSet/>
      <dgm:spPr/>
      <dgm:t>
        <a:bodyPr/>
        <a:lstStyle/>
        <a:p>
          <a:r>
            <a:rPr lang="en-CA"/>
            <a:t>Participants residing in crisis intervention facilities; </a:t>
          </a:r>
          <a:endParaRPr lang="en-US"/>
        </a:p>
      </dgm:t>
    </dgm:pt>
    <dgm:pt modelId="{272989A0-F070-4B0F-949C-CEB2EDD582FB}" type="parTrans" cxnId="{F271EA11-01D6-497C-BCD0-17EAFCB2EF9E}">
      <dgm:prSet/>
      <dgm:spPr/>
      <dgm:t>
        <a:bodyPr/>
        <a:lstStyle/>
        <a:p>
          <a:endParaRPr lang="en-US"/>
        </a:p>
      </dgm:t>
    </dgm:pt>
    <dgm:pt modelId="{28682AF8-E289-4C42-8E98-3B1DC09EC13D}" type="sibTrans" cxnId="{F271EA11-01D6-497C-BCD0-17EAFCB2EF9E}">
      <dgm:prSet phldrT="04" phldr="0"/>
      <dgm:spPr/>
      <dgm:t>
        <a:bodyPr/>
        <a:lstStyle/>
        <a:p>
          <a:r>
            <a:rPr lang="en-US"/>
            <a:t>04</a:t>
          </a:r>
        </a:p>
      </dgm:t>
    </dgm:pt>
    <dgm:pt modelId="{D5854779-222C-41D0-BA8E-2501102BD166}">
      <dgm:prSet/>
      <dgm:spPr/>
      <dgm:t>
        <a:bodyPr/>
        <a:lstStyle/>
        <a:p>
          <a:r>
            <a:rPr lang="en-CA"/>
            <a:t>Minor single parents in the last trimester of pregnancy or with a child under six years old</a:t>
          </a:r>
          <a:endParaRPr lang="en-US"/>
        </a:p>
      </dgm:t>
    </dgm:pt>
    <dgm:pt modelId="{43BF1398-AA98-40AB-B54F-171847BF2945}" type="parTrans" cxnId="{430DB627-55FF-4C2F-ABEB-C234BBD1A809}">
      <dgm:prSet/>
      <dgm:spPr/>
      <dgm:t>
        <a:bodyPr/>
        <a:lstStyle/>
        <a:p>
          <a:endParaRPr lang="en-US"/>
        </a:p>
      </dgm:t>
    </dgm:pt>
    <dgm:pt modelId="{FC977CF6-3B44-40A8-A1C9-29BD4457019B}" type="sibTrans" cxnId="{430DB627-55FF-4C2F-ABEB-C234BBD1A809}">
      <dgm:prSet phldrT="05" phldr="0"/>
      <dgm:spPr/>
      <dgm:t>
        <a:bodyPr/>
        <a:lstStyle/>
        <a:p>
          <a:r>
            <a:rPr lang="en-US"/>
            <a:t>05</a:t>
          </a:r>
        </a:p>
      </dgm:t>
    </dgm:pt>
    <dgm:pt modelId="{04203F95-F451-0145-B413-8F2E0F41F783}" type="pres">
      <dgm:prSet presAssocID="{CEEACF6D-42BE-41AE-9D77-D9ED8F549719}" presName="Name0" presStyleCnt="0">
        <dgm:presLayoutVars>
          <dgm:animLvl val="lvl"/>
          <dgm:resizeHandles val="exact"/>
        </dgm:presLayoutVars>
      </dgm:prSet>
      <dgm:spPr/>
    </dgm:pt>
    <dgm:pt modelId="{7E7DBCF7-B4CC-8B45-810B-C3BC9B7D834A}" type="pres">
      <dgm:prSet presAssocID="{E9D6402B-89C0-4BC5-B4A9-54ADEC982A07}" presName="compositeNode" presStyleCnt="0">
        <dgm:presLayoutVars>
          <dgm:bulletEnabled val="1"/>
        </dgm:presLayoutVars>
      </dgm:prSet>
      <dgm:spPr/>
    </dgm:pt>
    <dgm:pt modelId="{80448E62-6BF6-9F41-ADDE-87CCB47FF5F9}" type="pres">
      <dgm:prSet presAssocID="{E9D6402B-89C0-4BC5-B4A9-54ADEC982A07}" presName="bgRect" presStyleLbl="alignNode1" presStyleIdx="0" presStyleCnt="5"/>
      <dgm:spPr/>
    </dgm:pt>
    <dgm:pt modelId="{BF69602B-EFED-0B44-BED7-5ABC68F34014}" type="pres">
      <dgm:prSet presAssocID="{357214E8-2000-468B-B7FD-0FB5E07BC4FF}" presName="sibTransNodeRect" presStyleLbl="alignNode1" presStyleIdx="0" presStyleCnt="5">
        <dgm:presLayoutVars>
          <dgm:chMax val="0"/>
          <dgm:bulletEnabled val="1"/>
        </dgm:presLayoutVars>
      </dgm:prSet>
      <dgm:spPr/>
    </dgm:pt>
    <dgm:pt modelId="{DB837A89-EFCF-7142-AA85-DEE11627A6CE}" type="pres">
      <dgm:prSet presAssocID="{E9D6402B-89C0-4BC5-B4A9-54ADEC982A07}" presName="nodeRect" presStyleLbl="alignNode1" presStyleIdx="0" presStyleCnt="5">
        <dgm:presLayoutVars>
          <dgm:bulletEnabled val="1"/>
        </dgm:presLayoutVars>
      </dgm:prSet>
      <dgm:spPr/>
    </dgm:pt>
    <dgm:pt modelId="{9D7C0C66-FD7F-7740-9A37-018EE027D7EF}" type="pres">
      <dgm:prSet presAssocID="{357214E8-2000-468B-B7FD-0FB5E07BC4FF}" presName="sibTrans" presStyleCnt="0"/>
      <dgm:spPr/>
    </dgm:pt>
    <dgm:pt modelId="{2C2A9F05-17B5-A745-81E8-C280E988FEED}" type="pres">
      <dgm:prSet presAssocID="{D2FA3985-A7D1-4F38-921E-8537D65D87B2}" presName="compositeNode" presStyleCnt="0">
        <dgm:presLayoutVars>
          <dgm:bulletEnabled val="1"/>
        </dgm:presLayoutVars>
      </dgm:prSet>
      <dgm:spPr/>
    </dgm:pt>
    <dgm:pt modelId="{D2A4B1C5-FA4A-A140-B091-ECA683A9306A}" type="pres">
      <dgm:prSet presAssocID="{D2FA3985-A7D1-4F38-921E-8537D65D87B2}" presName="bgRect" presStyleLbl="alignNode1" presStyleIdx="1" presStyleCnt="5"/>
      <dgm:spPr/>
    </dgm:pt>
    <dgm:pt modelId="{F0A626DB-AD4F-B143-A6AA-B9CEF3235B21}" type="pres">
      <dgm:prSet presAssocID="{4799F62A-7255-4094-B02D-443BD083DABD}" presName="sibTransNodeRect" presStyleLbl="alignNode1" presStyleIdx="1" presStyleCnt="5">
        <dgm:presLayoutVars>
          <dgm:chMax val="0"/>
          <dgm:bulletEnabled val="1"/>
        </dgm:presLayoutVars>
      </dgm:prSet>
      <dgm:spPr/>
    </dgm:pt>
    <dgm:pt modelId="{BC7A0354-7C76-C14E-85EF-E52DC052A6F3}" type="pres">
      <dgm:prSet presAssocID="{D2FA3985-A7D1-4F38-921E-8537D65D87B2}" presName="nodeRect" presStyleLbl="alignNode1" presStyleIdx="1" presStyleCnt="5">
        <dgm:presLayoutVars>
          <dgm:bulletEnabled val="1"/>
        </dgm:presLayoutVars>
      </dgm:prSet>
      <dgm:spPr/>
    </dgm:pt>
    <dgm:pt modelId="{9F22E89C-CDD9-1646-A9E5-23677C99FBCE}" type="pres">
      <dgm:prSet presAssocID="{4799F62A-7255-4094-B02D-443BD083DABD}" presName="sibTrans" presStyleCnt="0"/>
      <dgm:spPr/>
    </dgm:pt>
    <dgm:pt modelId="{98B4FEAC-429E-CD45-A668-A80FBDF98D44}" type="pres">
      <dgm:prSet presAssocID="{DD4EA707-6AC7-4A92-88A7-099B3E6953D0}" presName="compositeNode" presStyleCnt="0">
        <dgm:presLayoutVars>
          <dgm:bulletEnabled val="1"/>
        </dgm:presLayoutVars>
      </dgm:prSet>
      <dgm:spPr/>
    </dgm:pt>
    <dgm:pt modelId="{3157ECF8-05E1-6743-9C8A-8FCEA2B4F589}" type="pres">
      <dgm:prSet presAssocID="{DD4EA707-6AC7-4A92-88A7-099B3E6953D0}" presName="bgRect" presStyleLbl="alignNode1" presStyleIdx="2" presStyleCnt="5"/>
      <dgm:spPr/>
    </dgm:pt>
    <dgm:pt modelId="{346CB3E7-0E57-784D-98A0-040AB1667CDC}" type="pres">
      <dgm:prSet presAssocID="{E13131FE-F08F-411F-9879-A49054405B03}" presName="sibTransNodeRect" presStyleLbl="alignNode1" presStyleIdx="2" presStyleCnt="5">
        <dgm:presLayoutVars>
          <dgm:chMax val="0"/>
          <dgm:bulletEnabled val="1"/>
        </dgm:presLayoutVars>
      </dgm:prSet>
      <dgm:spPr/>
    </dgm:pt>
    <dgm:pt modelId="{4FAE069E-1936-0943-AADC-97DEDA330474}" type="pres">
      <dgm:prSet presAssocID="{DD4EA707-6AC7-4A92-88A7-099B3E6953D0}" presName="nodeRect" presStyleLbl="alignNode1" presStyleIdx="2" presStyleCnt="5">
        <dgm:presLayoutVars>
          <dgm:bulletEnabled val="1"/>
        </dgm:presLayoutVars>
      </dgm:prSet>
      <dgm:spPr/>
    </dgm:pt>
    <dgm:pt modelId="{6587BEF2-9382-984E-9026-1440BF7DF353}" type="pres">
      <dgm:prSet presAssocID="{E13131FE-F08F-411F-9879-A49054405B03}" presName="sibTrans" presStyleCnt="0"/>
      <dgm:spPr/>
    </dgm:pt>
    <dgm:pt modelId="{5B8F5275-F7F9-0B44-85A1-C312ED40CA86}" type="pres">
      <dgm:prSet presAssocID="{F8B1A8EE-2C2D-4C31-B161-1184B50510BC}" presName="compositeNode" presStyleCnt="0">
        <dgm:presLayoutVars>
          <dgm:bulletEnabled val="1"/>
        </dgm:presLayoutVars>
      </dgm:prSet>
      <dgm:spPr/>
    </dgm:pt>
    <dgm:pt modelId="{2EDE3A01-7C1F-5E46-846D-875867187201}" type="pres">
      <dgm:prSet presAssocID="{F8B1A8EE-2C2D-4C31-B161-1184B50510BC}" presName="bgRect" presStyleLbl="alignNode1" presStyleIdx="3" presStyleCnt="5"/>
      <dgm:spPr/>
    </dgm:pt>
    <dgm:pt modelId="{ABD479B6-C4DF-BC4E-AAFE-94F35DD5EAA6}" type="pres">
      <dgm:prSet presAssocID="{28682AF8-E289-4C42-8E98-3B1DC09EC13D}" presName="sibTransNodeRect" presStyleLbl="alignNode1" presStyleIdx="3" presStyleCnt="5">
        <dgm:presLayoutVars>
          <dgm:chMax val="0"/>
          <dgm:bulletEnabled val="1"/>
        </dgm:presLayoutVars>
      </dgm:prSet>
      <dgm:spPr/>
    </dgm:pt>
    <dgm:pt modelId="{C5AFD22F-DBDA-024B-A462-8F2BC273DC2E}" type="pres">
      <dgm:prSet presAssocID="{F8B1A8EE-2C2D-4C31-B161-1184B50510BC}" presName="nodeRect" presStyleLbl="alignNode1" presStyleIdx="3" presStyleCnt="5">
        <dgm:presLayoutVars>
          <dgm:bulletEnabled val="1"/>
        </dgm:presLayoutVars>
      </dgm:prSet>
      <dgm:spPr/>
    </dgm:pt>
    <dgm:pt modelId="{73AC068D-6CB5-C844-81E0-672BEC57F523}" type="pres">
      <dgm:prSet presAssocID="{28682AF8-E289-4C42-8E98-3B1DC09EC13D}" presName="sibTrans" presStyleCnt="0"/>
      <dgm:spPr/>
    </dgm:pt>
    <dgm:pt modelId="{D84324E0-20DA-3648-A243-93F6A1836936}" type="pres">
      <dgm:prSet presAssocID="{D5854779-222C-41D0-BA8E-2501102BD166}" presName="compositeNode" presStyleCnt="0">
        <dgm:presLayoutVars>
          <dgm:bulletEnabled val="1"/>
        </dgm:presLayoutVars>
      </dgm:prSet>
      <dgm:spPr/>
    </dgm:pt>
    <dgm:pt modelId="{EC52F054-8925-DB48-805B-6ABFFD927214}" type="pres">
      <dgm:prSet presAssocID="{D5854779-222C-41D0-BA8E-2501102BD166}" presName="bgRect" presStyleLbl="alignNode1" presStyleIdx="4" presStyleCnt="5"/>
      <dgm:spPr/>
    </dgm:pt>
    <dgm:pt modelId="{EE159A8F-DD74-274F-805F-57879022A96D}" type="pres">
      <dgm:prSet presAssocID="{FC977CF6-3B44-40A8-A1C9-29BD4457019B}" presName="sibTransNodeRect" presStyleLbl="alignNode1" presStyleIdx="4" presStyleCnt="5">
        <dgm:presLayoutVars>
          <dgm:chMax val="0"/>
          <dgm:bulletEnabled val="1"/>
        </dgm:presLayoutVars>
      </dgm:prSet>
      <dgm:spPr/>
    </dgm:pt>
    <dgm:pt modelId="{E151B150-E4B5-7442-BB72-D9F7B4ECE896}" type="pres">
      <dgm:prSet presAssocID="{D5854779-222C-41D0-BA8E-2501102BD166}" presName="nodeRect" presStyleLbl="alignNode1" presStyleIdx="4" presStyleCnt="5">
        <dgm:presLayoutVars>
          <dgm:bulletEnabled val="1"/>
        </dgm:presLayoutVars>
      </dgm:prSet>
      <dgm:spPr/>
    </dgm:pt>
  </dgm:ptLst>
  <dgm:cxnLst>
    <dgm:cxn modelId="{91FFDF0B-019D-8341-827C-970E3AD3E1DD}" type="presOf" srcId="{CEEACF6D-42BE-41AE-9D77-D9ED8F549719}" destId="{04203F95-F451-0145-B413-8F2E0F41F783}" srcOrd="0" destOrd="0" presId="urn:microsoft.com/office/officeart/2016/7/layout/LinearBlockProcessNumbered"/>
    <dgm:cxn modelId="{B7A2B80C-E1E0-7244-B7A6-86574D0993F7}" type="presOf" srcId="{4799F62A-7255-4094-B02D-443BD083DABD}" destId="{F0A626DB-AD4F-B143-A6AA-B9CEF3235B21}" srcOrd="0" destOrd="0" presId="urn:microsoft.com/office/officeart/2016/7/layout/LinearBlockProcessNumbered"/>
    <dgm:cxn modelId="{122D350F-81AF-B942-A874-40F24222C5A7}" type="presOf" srcId="{357214E8-2000-468B-B7FD-0FB5E07BC4FF}" destId="{BF69602B-EFED-0B44-BED7-5ABC68F34014}" srcOrd="0" destOrd="0" presId="urn:microsoft.com/office/officeart/2016/7/layout/LinearBlockProcessNumbered"/>
    <dgm:cxn modelId="{15FC9611-C7F7-5947-A7EB-9158966BD38F}" type="presOf" srcId="{D5854779-222C-41D0-BA8E-2501102BD166}" destId="{E151B150-E4B5-7442-BB72-D9F7B4ECE896}" srcOrd="1" destOrd="0" presId="urn:microsoft.com/office/officeart/2016/7/layout/LinearBlockProcessNumbered"/>
    <dgm:cxn modelId="{F271EA11-01D6-497C-BCD0-17EAFCB2EF9E}" srcId="{CEEACF6D-42BE-41AE-9D77-D9ED8F549719}" destId="{F8B1A8EE-2C2D-4C31-B161-1184B50510BC}" srcOrd="3" destOrd="0" parTransId="{272989A0-F070-4B0F-949C-CEB2EDD582FB}" sibTransId="{28682AF8-E289-4C42-8E98-3B1DC09EC13D}"/>
    <dgm:cxn modelId="{ED900A15-7C7E-D241-AAB2-4810CC2D9D3E}" type="presOf" srcId="{D2FA3985-A7D1-4F38-921E-8537D65D87B2}" destId="{D2A4B1C5-FA4A-A140-B091-ECA683A9306A}" srcOrd="0" destOrd="0" presId="urn:microsoft.com/office/officeart/2016/7/layout/LinearBlockProcessNumbered"/>
    <dgm:cxn modelId="{CD6AC61D-DA8E-E24F-809B-150DA9E1986D}" type="presOf" srcId="{E9D6402B-89C0-4BC5-B4A9-54ADEC982A07}" destId="{80448E62-6BF6-9F41-ADDE-87CCB47FF5F9}" srcOrd="0" destOrd="0" presId="urn:microsoft.com/office/officeart/2016/7/layout/LinearBlockProcessNumbered"/>
    <dgm:cxn modelId="{430DB627-55FF-4C2F-ABEB-C234BBD1A809}" srcId="{CEEACF6D-42BE-41AE-9D77-D9ED8F549719}" destId="{D5854779-222C-41D0-BA8E-2501102BD166}" srcOrd="4" destOrd="0" parTransId="{43BF1398-AA98-40AB-B54F-171847BF2945}" sibTransId="{FC977CF6-3B44-40A8-A1C9-29BD4457019B}"/>
    <dgm:cxn modelId="{B8F98F2F-6D05-774A-9C14-C3A6311B7193}" type="presOf" srcId="{FC977CF6-3B44-40A8-A1C9-29BD4457019B}" destId="{EE159A8F-DD74-274F-805F-57879022A96D}" srcOrd="0" destOrd="0" presId="urn:microsoft.com/office/officeart/2016/7/layout/LinearBlockProcessNumbered"/>
    <dgm:cxn modelId="{7254C950-2D34-0A46-8DB9-5505B58210AE}" type="presOf" srcId="{E9D6402B-89C0-4BC5-B4A9-54ADEC982A07}" destId="{DB837A89-EFCF-7142-AA85-DEE11627A6CE}" srcOrd="1" destOrd="0" presId="urn:microsoft.com/office/officeart/2016/7/layout/LinearBlockProcessNumbered"/>
    <dgm:cxn modelId="{DF1BBE5B-CB22-5E41-9C99-2E838CB4DCBB}" type="presOf" srcId="{28682AF8-E289-4C42-8E98-3B1DC09EC13D}" destId="{ABD479B6-C4DF-BC4E-AAFE-94F35DD5EAA6}" srcOrd="0" destOrd="0" presId="urn:microsoft.com/office/officeart/2016/7/layout/LinearBlockProcessNumbered"/>
    <dgm:cxn modelId="{F526A666-0961-4AE7-BB43-1076E05DCB3E}" srcId="{CEEACF6D-42BE-41AE-9D77-D9ED8F549719}" destId="{DD4EA707-6AC7-4A92-88A7-099B3E6953D0}" srcOrd="2" destOrd="0" parTransId="{5AAA23F0-6852-40C5-AAE2-DE95361960B5}" sibTransId="{E13131FE-F08F-411F-9879-A49054405B03}"/>
    <dgm:cxn modelId="{7F6E9C88-B499-A545-87BA-C2065DD9F3DF}" type="presOf" srcId="{F8B1A8EE-2C2D-4C31-B161-1184B50510BC}" destId="{2EDE3A01-7C1F-5E46-846D-875867187201}" srcOrd="0" destOrd="0" presId="urn:microsoft.com/office/officeart/2016/7/layout/LinearBlockProcessNumbered"/>
    <dgm:cxn modelId="{7BB2EE97-9BE0-B64C-A8A2-5104A283956D}" type="presOf" srcId="{DD4EA707-6AC7-4A92-88A7-099B3E6953D0}" destId="{4FAE069E-1936-0943-AADC-97DEDA330474}" srcOrd="1" destOrd="0" presId="urn:microsoft.com/office/officeart/2016/7/layout/LinearBlockProcessNumbered"/>
    <dgm:cxn modelId="{D9A934C3-5755-4C8B-91A0-EFB5373E54B8}" srcId="{CEEACF6D-42BE-41AE-9D77-D9ED8F549719}" destId="{E9D6402B-89C0-4BC5-B4A9-54ADEC982A07}" srcOrd="0" destOrd="0" parTransId="{7B4CE39C-0949-45AA-9F18-9EB64F65F693}" sibTransId="{357214E8-2000-468B-B7FD-0FB5E07BC4FF}"/>
    <dgm:cxn modelId="{502360C5-D74D-CE41-AB02-9A91355559AF}" type="presOf" srcId="{DD4EA707-6AC7-4A92-88A7-099B3E6953D0}" destId="{3157ECF8-05E1-6743-9C8A-8FCEA2B4F589}" srcOrd="0" destOrd="0" presId="urn:microsoft.com/office/officeart/2016/7/layout/LinearBlockProcessNumbered"/>
    <dgm:cxn modelId="{8C32E9D1-DD73-0546-A97B-97142D5E39A9}" type="presOf" srcId="{D5854779-222C-41D0-BA8E-2501102BD166}" destId="{EC52F054-8925-DB48-805B-6ABFFD927214}" srcOrd="0" destOrd="0" presId="urn:microsoft.com/office/officeart/2016/7/layout/LinearBlockProcessNumbered"/>
    <dgm:cxn modelId="{FF4A53D8-8E8C-444C-BE6D-416AA4247F6D}" type="presOf" srcId="{D2FA3985-A7D1-4F38-921E-8537D65D87B2}" destId="{BC7A0354-7C76-C14E-85EF-E52DC052A6F3}" srcOrd="1" destOrd="0" presId="urn:microsoft.com/office/officeart/2016/7/layout/LinearBlockProcessNumbered"/>
    <dgm:cxn modelId="{3C3632E0-4326-1043-9BE0-0BF3A5F667F6}" type="presOf" srcId="{E13131FE-F08F-411F-9879-A49054405B03}" destId="{346CB3E7-0E57-784D-98A0-040AB1667CDC}" srcOrd="0" destOrd="0" presId="urn:microsoft.com/office/officeart/2016/7/layout/LinearBlockProcessNumbered"/>
    <dgm:cxn modelId="{1A3121E7-C6B1-4CB9-A78A-FB9234178FC8}" srcId="{CEEACF6D-42BE-41AE-9D77-D9ED8F549719}" destId="{D2FA3985-A7D1-4F38-921E-8537D65D87B2}" srcOrd="1" destOrd="0" parTransId="{DD75660C-96C4-4212-A6DB-228865540A0F}" sibTransId="{4799F62A-7255-4094-B02D-443BD083DABD}"/>
    <dgm:cxn modelId="{AC9E85FF-A36C-DE4F-A4A0-4D61CDEB0BC6}" type="presOf" srcId="{F8B1A8EE-2C2D-4C31-B161-1184B50510BC}" destId="{C5AFD22F-DBDA-024B-A462-8F2BC273DC2E}" srcOrd="1" destOrd="0" presId="urn:microsoft.com/office/officeart/2016/7/layout/LinearBlockProcessNumbered"/>
    <dgm:cxn modelId="{CD47D40C-172D-CE4B-AE2B-76B6BEB444B4}" type="presParOf" srcId="{04203F95-F451-0145-B413-8F2E0F41F783}" destId="{7E7DBCF7-B4CC-8B45-810B-C3BC9B7D834A}" srcOrd="0" destOrd="0" presId="urn:microsoft.com/office/officeart/2016/7/layout/LinearBlockProcessNumbered"/>
    <dgm:cxn modelId="{BD6BE3E2-0EA0-8647-AC66-FF4D38AD0090}" type="presParOf" srcId="{7E7DBCF7-B4CC-8B45-810B-C3BC9B7D834A}" destId="{80448E62-6BF6-9F41-ADDE-87CCB47FF5F9}" srcOrd="0" destOrd="0" presId="urn:microsoft.com/office/officeart/2016/7/layout/LinearBlockProcessNumbered"/>
    <dgm:cxn modelId="{09B6E40D-347C-E243-ACB2-B878BB0AA929}" type="presParOf" srcId="{7E7DBCF7-B4CC-8B45-810B-C3BC9B7D834A}" destId="{BF69602B-EFED-0B44-BED7-5ABC68F34014}" srcOrd="1" destOrd="0" presId="urn:microsoft.com/office/officeart/2016/7/layout/LinearBlockProcessNumbered"/>
    <dgm:cxn modelId="{52D30AFC-28F1-8240-BA11-82617A3C3152}" type="presParOf" srcId="{7E7DBCF7-B4CC-8B45-810B-C3BC9B7D834A}" destId="{DB837A89-EFCF-7142-AA85-DEE11627A6CE}" srcOrd="2" destOrd="0" presId="urn:microsoft.com/office/officeart/2016/7/layout/LinearBlockProcessNumbered"/>
    <dgm:cxn modelId="{6A37A2AF-3D98-E746-82EB-1AE35DB0801B}" type="presParOf" srcId="{04203F95-F451-0145-B413-8F2E0F41F783}" destId="{9D7C0C66-FD7F-7740-9A37-018EE027D7EF}" srcOrd="1" destOrd="0" presId="urn:microsoft.com/office/officeart/2016/7/layout/LinearBlockProcessNumbered"/>
    <dgm:cxn modelId="{19268775-4AFE-5549-A486-02298FBC1E06}" type="presParOf" srcId="{04203F95-F451-0145-B413-8F2E0F41F783}" destId="{2C2A9F05-17B5-A745-81E8-C280E988FEED}" srcOrd="2" destOrd="0" presId="urn:microsoft.com/office/officeart/2016/7/layout/LinearBlockProcessNumbered"/>
    <dgm:cxn modelId="{4E5FBCA6-2CCB-0741-8EB2-4F18CFCB2DCC}" type="presParOf" srcId="{2C2A9F05-17B5-A745-81E8-C280E988FEED}" destId="{D2A4B1C5-FA4A-A140-B091-ECA683A9306A}" srcOrd="0" destOrd="0" presId="urn:microsoft.com/office/officeart/2016/7/layout/LinearBlockProcessNumbered"/>
    <dgm:cxn modelId="{07D20BDE-2D0F-FF40-B728-5ED71BE941A6}" type="presParOf" srcId="{2C2A9F05-17B5-A745-81E8-C280E988FEED}" destId="{F0A626DB-AD4F-B143-A6AA-B9CEF3235B21}" srcOrd="1" destOrd="0" presId="urn:microsoft.com/office/officeart/2016/7/layout/LinearBlockProcessNumbered"/>
    <dgm:cxn modelId="{4FD23478-A275-A747-BF59-EA4744920646}" type="presParOf" srcId="{2C2A9F05-17B5-A745-81E8-C280E988FEED}" destId="{BC7A0354-7C76-C14E-85EF-E52DC052A6F3}" srcOrd="2" destOrd="0" presId="urn:microsoft.com/office/officeart/2016/7/layout/LinearBlockProcessNumbered"/>
    <dgm:cxn modelId="{1BA520C0-8749-6D4D-B3AB-8A8598A11903}" type="presParOf" srcId="{04203F95-F451-0145-B413-8F2E0F41F783}" destId="{9F22E89C-CDD9-1646-A9E5-23677C99FBCE}" srcOrd="3" destOrd="0" presId="urn:microsoft.com/office/officeart/2016/7/layout/LinearBlockProcessNumbered"/>
    <dgm:cxn modelId="{EAD87DCA-3863-3B4C-B6AF-7699F5A37D3C}" type="presParOf" srcId="{04203F95-F451-0145-B413-8F2E0F41F783}" destId="{98B4FEAC-429E-CD45-A668-A80FBDF98D44}" srcOrd="4" destOrd="0" presId="urn:microsoft.com/office/officeart/2016/7/layout/LinearBlockProcessNumbered"/>
    <dgm:cxn modelId="{09382361-A849-D341-A055-353806A32920}" type="presParOf" srcId="{98B4FEAC-429E-CD45-A668-A80FBDF98D44}" destId="{3157ECF8-05E1-6743-9C8A-8FCEA2B4F589}" srcOrd="0" destOrd="0" presId="urn:microsoft.com/office/officeart/2016/7/layout/LinearBlockProcessNumbered"/>
    <dgm:cxn modelId="{D910A9CC-5220-624C-BC65-ACCE4B3F3413}" type="presParOf" srcId="{98B4FEAC-429E-CD45-A668-A80FBDF98D44}" destId="{346CB3E7-0E57-784D-98A0-040AB1667CDC}" srcOrd="1" destOrd="0" presId="urn:microsoft.com/office/officeart/2016/7/layout/LinearBlockProcessNumbered"/>
    <dgm:cxn modelId="{6A529188-753B-6349-B43A-44D5BC4896C0}" type="presParOf" srcId="{98B4FEAC-429E-CD45-A668-A80FBDF98D44}" destId="{4FAE069E-1936-0943-AADC-97DEDA330474}" srcOrd="2" destOrd="0" presId="urn:microsoft.com/office/officeart/2016/7/layout/LinearBlockProcessNumbered"/>
    <dgm:cxn modelId="{46F152BA-DA53-E34B-82EB-3EE5209E1967}" type="presParOf" srcId="{04203F95-F451-0145-B413-8F2E0F41F783}" destId="{6587BEF2-9382-984E-9026-1440BF7DF353}" srcOrd="5" destOrd="0" presId="urn:microsoft.com/office/officeart/2016/7/layout/LinearBlockProcessNumbered"/>
    <dgm:cxn modelId="{038D3DAC-63BB-3944-9CFA-D9A61ED7C762}" type="presParOf" srcId="{04203F95-F451-0145-B413-8F2E0F41F783}" destId="{5B8F5275-F7F9-0B44-85A1-C312ED40CA86}" srcOrd="6" destOrd="0" presId="urn:microsoft.com/office/officeart/2016/7/layout/LinearBlockProcessNumbered"/>
    <dgm:cxn modelId="{751CE453-D26F-DE48-B0F7-2612EA406D31}" type="presParOf" srcId="{5B8F5275-F7F9-0B44-85A1-C312ED40CA86}" destId="{2EDE3A01-7C1F-5E46-846D-875867187201}" srcOrd="0" destOrd="0" presId="urn:microsoft.com/office/officeart/2016/7/layout/LinearBlockProcessNumbered"/>
    <dgm:cxn modelId="{708D1321-2BBC-3641-BC80-9617C4825483}" type="presParOf" srcId="{5B8F5275-F7F9-0B44-85A1-C312ED40CA86}" destId="{ABD479B6-C4DF-BC4E-AAFE-94F35DD5EAA6}" srcOrd="1" destOrd="0" presId="urn:microsoft.com/office/officeart/2016/7/layout/LinearBlockProcessNumbered"/>
    <dgm:cxn modelId="{502B2750-52F6-0545-90AF-F6157C0EC7D6}" type="presParOf" srcId="{5B8F5275-F7F9-0B44-85A1-C312ED40CA86}" destId="{C5AFD22F-DBDA-024B-A462-8F2BC273DC2E}" srcOrd="2" destOrd="0" presId="urn:microsoft.com/office/officeart/2016/7/layout/LinearBlockProcessNumbered"/>
    <dgm:cxn modelId="{AADFF1C3-12B7-6442-ACEB-CB8712D4BFA7}" type="presParOf" srcId="{04203F95-F451-0145-B413-8F2E0F41F783}" destId="{73AC068D-6CB5-C844-81E0-672BEC57F523}" srcOrd="7" destOrd="0" presId="urn:microsoft.com/office/officeart/2016/7/layout/LinearBlockProcessNumbered"/>
    <dgm:cxn modelId="{3F9B9F59-D694-034A-83B0-9AAC52D99FA6}" type="presParOf" srcId="{04203F95-F451-0145-B413-8F2E0F41F783}" destId="{D84324E0-20DA-3648-A243-93F6A1836936}" srcOrd="8" destOrd="0" presId="urn:microsoft.com/office/officeart/2016/7/layout/LinearBlockProcessNumbered"/>
    <dgm:cxn modelId="{C48DC4CD-BCD6-E842-9EDA-DD04193D9B06}" type="presParOf" srcId="{D84324E0-20DA-3648-A243-93F6A1836936}" destId="{EC52F054-8925-DB48-805B-6ABFFD927214}" srcOrd="0" destOrd="0" presId="urn:microsoft.com/office/officeart/2016/7/layout/LinearBlockProcessNumbered"/>
    <dgm:cxn modelId="{B83E7993-52CE-404F-AEF0-81DB4806AC3A}" type="presParOf" srcId="{D84324E0-20DA-3648-A243-93F6A1836936}" destId="{EE159A8F-DD74-274F-805F-57879022A96D}" srcOrd="1" destOrd="0" presId="urn:microsoft.com/office/officeart/2016/7/layout/LinearBlockProcessNumbered"/>
    <dgm:cxn modelId="{BB5E7E51-164C-5749-95B0-6FE3E92187E7}" type="presParOf" srcId="{D84324E0-20DA-3648-A243-93F6A1836936}" destId="{E151B150-E4B5-7442-BB72-D9F7B4ECE896}"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48E62-6BF6-9F41-ADDE-87CCB47FF5F9}">
      <dsp:nvSpPr>
        <dsp:cNvPr id="0" name=""/>
        <dsp:cNvSpPr/>
      </dsp:nvSpPr>
      <dsp:spPr>
        <a:xfrm>
          <a:off x="6624" y="596633"/>
          <a:ext cx="2070808" cy="248497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550" tIns="0" rIns="204550" bIns="330200" numCol="1" spcCol="1270" anchor="t" anchorCtr="0">
          <a:noAutofit/>
        </a:bodyPr>
        <a:lstStyle/>
        <a:p>
          <a:pPr marL="0" lvl="0" indent="0" algn="l" defTabSz="666750">
            <a:lnSpc>
              <a:spcPct val="90000"/>
            </a:lnSpc>
            <a:spcBef>
              <a:spcPct val="0"/>
            </a:spcBef>
            <a:spcAft>
              <a:spcPct val="35000"/>
            </a:spcAft>
            <a:buNone/>
          </a:pPr>
          <a:r>
            <a:rPr lang="en-CA" sz="1500" kern="1200" dirty="0"/>
            <a:t>Aged participants and participants with disabilities; </a:t>
          </a:r>
          <a:endParaRPr lang="en-US" sz="1500" kern="1200" dirty="0"/>
        </a:p>
      </dsp:txBody>
      <dsp:txXfrm>
        <a:off x="6624" y="1590621"/>
        <a:ext cx="2070808" cy="1490982"/>
      </dsp:txXfrm>
    </dsp:sp>
    <dsp:sp modelId="{BF69602B-EFED-0B44-BED7-5ABC68F34014}">
      <dsp:nvSpPr>
        <dsp:cNvPr id="0" name=""/>
        <dsp:cNvSpPr/>
      </dsp:nvSpPr>
      <dsp:spPr>
        <a:xfrm>
          <a:off x="6624" y="596633"/>
          <a:ext cx="2070808" cy="9939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550" tIns="165100" rIns="204550" bIns="165100" numCol="1" spcCol="1270" anchor="ctr" anchorCtr="0">
          <a:noAutofit/>
        </a:bodyPr>
        <a:lstStyle/>
        <a:p>
          <a:pPr marL="0" lvl="0" indent="0" algn="l" defTabSz="2089150">
            <a:lnSpc>
              <a:spcPct val="90000"/>
            </a:lnSpc>
            <a:spcBef>
              <a:spcPct val="0"/>
            </a:spcBef>
            <a:spcAft>
              <a:spcPct val="35000"/>
            </a:spcAft>
            <a:buNone/>
          </a:pPr>
          <a:r>
            <a:rPr lang="en-US" sz="4700" kern="1200"/>
            <a:t>01</a:t>
          </a:r>
        </a:p>
      </dsp:txBody>
      <dsp:txXfrm>
        <a:off x="6624" y="596633"/>
        <a:ext cx="2070808" cy="993988"/>
      </dsp:txXfrm>
    </dsp:sp>
    <dsp:sp modelId="{D2A4B1C5-FA4A-A140-B091-ECA683A9306A}">
      <dsp:nvSpPr>
        <dsp:cNvPr id="0" name=""/>
        <dsp:cNvSpPr/>
      </dsp:nvSpPr>
      <dsp:spPr>
        <a:xfrm>
          <a:off x="2243097" y="596633"/>
          <a:ext cx="2070808" cy="248497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550" tIns="0" rIns="204550" bIns="330200" numCol="1" spcCol="1270" anchor="t" anchorCtr="0">
          <a:noAutofit/>
        </a:bodyPr>
        <a:lstStyle/>
        <a:p>
          <a:pPr marL="0" lvl="0" indent="0" algn="l" defTabSz="666750">
            <a:lnSpc>
              <a:spcPct val="90000"/>
            </a:lnSpc>
            <a:spcBef>
              <a:spcPct val="0"/>
            </a:spcBef>
            <a:spcAft>
              <a:spcPct val="35000"/>
            </a:spcAft>
            <a:buNone/>
          </a:pPr>
          <a:r>
            <a:rPr lang="en-CA" sz="1500" kern="1200"/>
            <a:t>Children 17 &amp; 18 attending education or training; </a:t>
          </a:r>
          <a:endParaRPr lang="en-US" sz="1500" kern="1200"/>
        </a:p>
      </dsp:txBody>
      <dsp:txXfrm>
        <a:off x="2243097" y="1590621"/>
        <a:ext cx="2070808" cy="1490982"/>
      </dsp:txXfrm>
    </dsp:sp>
    <dsp:sp modelId="{F0A626DB-AD4F-B143-A6AA-B9CEF3235B21}">
      <dsp:nvSpPr>
        <dsp:cNvPr id="0" name=""/>
        <dsp:cNvSpPr/>
      </dsp:nvSpPr>
      <dsp:spPr>
        <a:xfrm>
          <a:off x="2243097" y="596633"/>
          <a:ext cx="2070808" cy="9939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550" tIns="165100" rIns="204550" bIns="165100" numCol="1" spcCol="1270" anchor="ctr" anchorCtr="0">
          <a:noAutofit/>
        </a:bodyPr>
        <a:lstStyle/>
        <a:p>
          <a:pPr marL="0" lvl="0" indent="0" algn="l" defTabSz="2089150">
            <a:lnSpc>
              <a:spcPct val="90000"/>
            </a:lnSpc>
            <a:spcBef>
              <a:spcPct val="0"/>
            </a:spcBef>
            <a:spcAft>
              <a:spcPct val="35000"/>
            </a:spcAft>
            <a:buNone/>
          </a:pPr>
          <a:r>
            <a:rPr lang="en-US" sz="4700" kern="1200"/>
            <a:t>02</a:t>
          </a:r>
        </a:p>
      </dsp:txBody>
      <dsp:txXfrm>
        <a:off x="2243097" y="596633"/>
        <a:ext cx="2070808" cy="993988"/>
      </dsp:txXfrm>
    </dsp:sp>
    <dsp:sp modelId="{3157ECF8-05E1-6743-9C8A-8FCEA2B4F589}">
      <dsp:nvSpPr>
        <dsp:cNvPr id="0" name=""/>
        <dsp:cNvSpPr/>
      </dsp:nvSpPr>
      <dsp:spPr>
        <a:xfrm>
          <a:off x="4479570" y="596633"/>
          <a:ext cx="2070808" cy="248497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550" tIns="0" rIns="204550" bIns="330200" numCol="1" spcCol="1270" anchor="t" anchorCtr="0">
          <a:noAutofit/>
        </a:bodyPr>
        <a:lstStyle/>
        <a:p>
          <a:pPr marL="0" lvl="0" indent="0" algn="l" defTabSz="666750">
            <a:lnSpc>
              <a:spcPct val="90000"/>
            </a:lnSpc>
            <a:spcBef>
              <a:spcPct val="0"/>
            </a:spcBef>
            <a:spcAft>
              <a:spcPct val="35000"/>
            </a:spcAft>
            <a:buNone/>
          </a:pPr>
          <a:r>
            <a:rPr lang="en-CA" sz="1500" kern="1200"/>
            <a:t>Participants with dependants in need of special care; </a:t>
          </a:r>
          <a:endParaRPr lang="en-US" sz="1500" kern="1200"/>
        </a:p>
      </dsp:txBody>
      <dsp:txXfrm>
        <a:off x="4479570" y="1590621"/>
        <a:ext cx="2070808" cy="1490982"/>
      </dsp:txXfrm>
    </dsp:sp>
    <dsp:sp modelId="{346CB3E7-0E57-784D-98A0-040AB1667CDC}">
      <dsp:nvSpPr>
        <dsp:cNvPr id="0" name=""/>
        <dsp:cNvSpPr/>
      </dsp:nvSpPr>
      <dsp:spPr>
        <a:xfrm>
          <a:off x="4479570" y="596633"/>
          <a:ext cx="2070808" cy="9939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550" tIns="165100" rIns="204550" bIns="165100" numCol="1" spcCol="1270" anchor="ctr" anchorCtr="0">
          <a:noAutofit/>
        </a:bodyPr>
        <a:lstStyle/>
        <a:p>
          <a:pPr marL="0" lvl="0" indent="0" algn="l" defTabSz="2089150">
            <a:lnSpc>
              <a:spcPct val="90000"/>
            </a:lnSpc>
            <a:spcBef>
              <a:spcPct val="0"/>
            </a:spcBef>
            <a:spcAft>
              <a:spcPct val="35000"/>
            </a:spcAft>
            <a:buNone/>
          </a:pPr>
          <a:r>
            <a:rPr lang="en-US" sz="4700" kern="1200"/>
            <a:t>03</a:t>
          </a:r>
        </a:p>
      </dsp:txBody>
      <dsp:txXfrm>
        <a:off x="4479570" y="596633"/>
        <a:ext cx="2070808" cy="993988"/>
      </dsp:txXfrm>
    </dsp:sp>
    <dsp:sp modelId="{2EDE3A01-7C1F-5E46-846D-875867187201}">
      <dsp:nvSpPr>
        <dsp:cNvPr id="0" name=""/>
        <dsp:cNvSpPr/>
      </dsp:nvSpPr>
      <dsp:spPr>
        <a:xfrm>
          <a:off x="6716043" y="596633"/>
          <a:ext cx="2070808" cy="2484970"/>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550" tIns="0" rIns="204550" bIns="330200" numCol="1" spcCol="1270" anchor="t" anchorCtr="0">
          <a:noAutofit/>
        </a:bodyPr>
        <a:lstStyle/>
        <a:p>
          <a:pPr marL="0" lvl="0" indent="0" algn="l" defTabSz="666750">
            <a:lnSpc>
              <a:spcPct val="90000"/>
            </a:lnSpc>
            <a:spcBef>
              <a:spcPct val="0"/>
            </a:spcBef>
            <a:spcAft>
              <a:spcPct val="35000"/>
            </a:spcAft>
            <a:buNone/>
          </a:pPr>
          <a:r>
            <a:rPr lang="en-CA" sz="1500" kern="1200"/>
            <a:t>Participants residing in crisis intervention facilities; </a:t>
          </a:r>
          <a:endParaRPr lang="en-US" sz="1500" kern="1200"/>
        </a:p>
      </dsp:txBody>
      <dsp:txXfrm>
        <a:off x="6716043" y="1590621"/>
        <a:ext cx="2070808" cy="1490982"/>
      </dsp:txXfrm>
    </dsp:sp>
    <dsp:sp modelId="{ABD479B6-C4DF-BC4E-AAFE-94F35DD5EAA6}">
      <dsp:nvSpPr>
        <dsp:cNvPr id="0" name=""/>
        <dsp:cNvSpPr/>
      </dsp:nvSpPr>
      <dsp:spPr>
        <a:xfrm>
          <a:off x="6716043" y="596633"/>
          <a:ext cx="2070808" cy="9939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550" tIns="165100" rIns="204550" bIns="165100" numCol="1" spcCol="1270" anchor="ctr" anchorCtr="0">
          <a:noAutofit/>
        </a:bodyPr>
        <a:lstStyle/>
        <a:p>
          <a:pPr marL="0" lvl="0" indent="0" algn="l" defTabSz="2089150">
            <a:lnSpc>
              <a:spcPct val="90000"/>
            </a:lnSpc>
            <a:spcBef>
              <a:spcPct val="0"/>
            </a:spcBef>
            <a:spcAft>
              <a:spcPct val="35000"/>
            </a:spcAft>
            <a:buNone/>
          </a:pPr>
          <a:r>
            <a:rPr lang="en-US" sz="4700" kern="1200"/>
            <a:t>04</a:t>
          </a:r>
        </a:p>
      </dsp:txBody>
      <dsp:txXfrm>
        <a:off x="6716043" y="596633"/>
        <a:ext cx="2070808" cy="993988"/>
      </dsp:txXfrm>
    </dsp:sp>
    <dsp:sp modelId="{EC52F054-8925-DB48-805B-6ABFFD927214}">
      <dsp:nvSpPr>
        <dsp:cNvPr id="0" name=""/>
        <dsp:cNvSpPr/>
      </dsp:nvSpPr>
      <dsp:spPr>
        <a:xfrm>
          <a:off x="8952517" y="596633"/>
          <a:ext cx="2070808" cy="2484970"/>
        </a:xfrm>
        <a:prstGeom prst="rect">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4550" tIns="0" rIns="204550" bIns="330200" numCol="1" spcCol="1270" anchor="t" anchorCtr="0">
          <a:noAutofit/>
        </a:bodyPr>
        <a:lstStyle/>
        <a:p>
          <a:pPr marL="0" lvl="0" indent="0" algn="l" defTabSz="666750">
            <a:lnSpc>
              <a:spcPct val="90000"/>
            </a:lnSpc>
            <a:spcBef>
              <a:spcPct val="0"/>
            </a:spcBef>
            <a:spcAft>
              <a:spcPct val="35000"/>
            </a:spcAft>
            <a:buNone/>
          </a:pPr>
          <a:r>
            <a:rPr lang="en-CA" sz="1500" kern="1200"/>
            <a:t>Minor single parents in the last trimester of pregnancy or with a child under six years old</a:t>
          </a:r>
          <a:endParaRPr lang="en-US" sz="1500" kern="1200"/>
        </a:p>
      </dsp:txBody>
      <dsp:txXfrm>
        <a:off x="8952517" y="1590621"/>
        <a:ext cx="2070808" cy="1490982"/>
      </dsp:txXfrm>
    </dsp:sp>
    <dsp:sp modelId="{EE159A8F-DD74-274F-805F-57879022A96D}">
      <dsp:nvSpPr>
        <dsp:cNvPr id="0" name=""/>
        <dsp:cNvSpPr/>
      </dsp:nvSpPr>
      <dsp:spPr>
        <a:xfrm>
          <a:off x="8952517" y="596633"/>
          <a:ext cx="2070808" cy="993988"/>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4550" tIns="165100" rIns="204550" bIns="165100" numCol="1" spcCol="1270" anchor="ctr" anchorCtr="0">
          <a:noAutofit/>
        </a:bodyPr>
        <a:lstStyle/>
        <a:p>
          <a:pPr marL="0" lvl="0" indent="0" algn="l" defTabSz="2089150">
            <a:lnSpc>
              <a:spcPct val="90000"/>
            </a:lnSpc>
            <a:spcBef>
              <a:spcPct val="0"/>
            </a:spcBef>
            <a:spcAft>
              <a:spcPct val="35000"/>
            </a:spcAft>
            <a:buNone/>
          </a:pPr>
          <a:r>
            <a:rPr lang="en-US" sz="4700" kern="1200"/>
            <a:t>05</a:t>
          </a:r>
        </a:p>
      </dsp:txBody>
      <dsp:txXfrm>
        <a:off x="8952517" y="596633"/>
        <a:ext cx="2070808" cy="993988"/>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4E4000-B83C-D245-A4E4-608C9E96C782}" type="datetimeFigureOut">
              <a:rPr lang="en-US" smtClean="0"/>
              <a:t>9/24/25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E20497-5368-1C47-9DBE-D1D59FB93EEB}" type="slidenum">
              <a:rPr lang="en-US" smtClean="0"/>
              <a:t>‹#›</a:t>
            </a:fld>
            <a:endParaRPr lang="en-US"/>
          </a:p>
        </p:txBody>
      </p:sp>
    </p:spTree>
    <p:extLst>
      <p:ext uri="{BB962C8B-B14F-4D97-AF65-F5344CB8AC3E}">
        <p14:creationId xmlns:p14="http://schemas.microsoft.com/office/powerpoint/2010/main" val="1531635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7</a:t>
            </a:fld>
            <a:endParaRPr lang="en-US"/>
          </a:p>
        </p:txBody>
      </p:sp>
    </p:spTree>
    <p:extLst>
      <p:ext uri="{BB962C8B-B14F-4D97-AF65-F5344CB8AC3E}">
        <p14:creationId xmlns:p14="http://schemas.microsoft.com/office/powerpoint/2010/main" val="9431188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an emergency basis you can request at 111 </a:t>
            </a:r>
            <a:r>
              <a:rPr lang="en-US" dirty="0" err="1"/>
              <a:t>Rorie</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Emergency food vouchers </a:t>
            </a:r>
            <a:r>
              <a:rPr lang="en-US" altLang="en-US" sz="1200" dirty="0"/>
              <a:t>(the amount will be deducted from your first EIA cheque)</a:t>
            </a:r>
          </a:p>
          <a:p>
            <a:endParaRPr lang="en-US" sz="1200" dirty="0"/>
          </a:p>
          <a:p>
            <a:endParaRPr lang="en-US" sz="1200" dirty="0"/>
          </a:p>
          <a:p>
            <a:r>
              <a:rPr lang="en-US" sz="1200" dirty="0"/>
              <a:t>Emergency medication coverage</a:t>
            </a:r>
          </a:p>
          <a:p>
            <a:endParaRPr lang="en-US" sz="1200" dirty="0"/>
          </a:p>
          <a:p>
            <a:r>
              <a:rPr lang="en-US" sz="1200" dirty="0"/>
              <a:t>An extension to the Intake Application deadline (</a:t>
            </a:r>
            <a:r>
              <a:rPr lang="en-US" sz="1200" dirty="0" err="1"/>
              <a:t>e.i.</a:t>
            </a:r>
            <a:r>
              <a:rPr lang="en-US" sz="1200" dirty="0"/>
              <a:t> cut off date for providing intake documents)</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DDDBC4A-76B2-B040-8886-B244002367CA}" type="slidenum">
              <a:rPr lang="en-US" smtClean="0"/>
              <a:t>8</a:t>
            </a:fld>
            <a:endParaRPr lang="en-US"/>
          </a:p>
        </p:txBody>
      </p:sp>
    </p:spTree>
    <p:extLst>
      <p:ext uri="{BB962C8B-B14F-4D97-AF65-F5344CB8AC3E}">
        <p14:creationId xmlns:p14="http://schemas.microsoft.com/office/powerpoint/2010/main" val="623300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CA" sz="1200" b="0" i="0" u="none" strike="noStrike" kern="1200" dirty="0">
                <a:solidFill>
                  <a:schemeClr val="tx1"/>
                </a:solidFill>
                <a:effectLst/>
                <a:latin typeface="+mn-lt"/>
                <a:ea typeface="+mn-ea"/>
                <a:cs typeface="+mn-cs"/>
              </a:rPr>
              <a:t>We have to remember that EIA is designed as a last resort program. They will encourage </a:t>
            </a:r>
            <a:r>
              <a:rPr lang="en-CA" sz="1200" b="0" i="0" u="none" strike="noStrike" kern="1200" dirty="0" err="1">
                <a:solidFill>
                  <a:schemeClr val="tx1"/>
                </a:solidFill>
                <a:effectLst/>
                <a:latin typeface="+mn-lt"/>
                <a:ea typeface="+mn-ea"/>
                <a:cs typeface="+mn-cs"/>
              </a:rPr>
              <a:t>thosewho</a:t>
            </a:r>
            <a:r>
              <a:rPr lang="en-CA" sz="1200" b="0" i="0" u="none" strike="noStrike" kern="1200" dirty="0">
                <a:solidFill>
                  <a:schemeClr val="tx1"/>
                </a:solidFill>
                <a:effectLst/>
                <a:latin typeface="+mn-lt"/>
                <a:ea typeface="+mn-ea"/>
                <a:cs typeface="+mn-cs"/>
              </a:rPr>
              <a:t> are able to work, to find employment or enroll in a skills building class intended to help find employment. The department can stop or hold benefits if these expectations are not met. </a:t>
            </a:r>
            <a:r>
              <a:rPr lang="en-US" sz="1200" b="0" i="0" kern="1200" dirty="0">
                <a:solidFill>
                  <a:schemeClr val="tx1"/>
                </a:solidFill>
                <a:effectLst/>
                <a:latin typeface="+mn-lt"/>
                <a:ea typeface="+mn-ea"/>
                <a:cs typeface="+mn-cs"/>
              </a:rPr>
              <a:t>​</a:t>
            </a:r>
          </a:p>
          <a:p>
            <a:pPr rtl="0" fontAlgn="base"/>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EDDDBC4A-76B2-B040-8886-B244002367CA}" type="slidenum">
              <a:rPr lang="en-US" smtClean="0"/>
              <a:t>14</a:t>
            </a:fld>
            <a:endParaRPr lang="en-US"/>
          </a:p>
        </p:txBody>
      </p:sp>
    </p:spTree>
    <p:extLst>
      <p:ext uri="{BB962C8B-B14F-4D97-AF65-F5344CB8AC3E}">
        <p14:creationId xmlns:p14="http://schemas.microsoft.com/office/powerpoint/2010/main" val="447627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15</a:t>
            </a:fld>
            <a:endParaRPr lang="en-US"/>
          </a:p>
        </p:txBody>
      </p:sp>
    </p:spTree>
    <p:extLst>
      <p:ext uri="{BB962C8B-B14F-4D97-AF65-F5344CB8AC3E}">
        <p14:creationId xmlns:p14="http://schemas.microsoft.com/office/powerpoint/2010/main" val="1247310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16</a:t>
            </a:fld>
            <a:endParaRPr lang="en-US"/>
          </a:p>
        </p:txBody>
      </p:sp>
    </p:spTree>
    <p:extLst>
      <p:ext uri="{BB962C8B-B14F-4D97-AF65-F5344CB8AC3E}">
        <p14:creationId xmlns:p14="http://schemas.microsoft.com/office/powerpoint/2010/main" val="1078960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17</a:t>
            </a:fld>
            <a:endParaRPr lang="en-US"/>
          </a:p>
        </p:txBody>
      </p:sp>
    </p:spTree>
    <p:extLst>
      <p:ext uri="{BB962C8B-B14F-4D97-AF65-F5344CB8AC3E}">
        <p14:creationId xmlns:p14="http://schemas.microsoft.com/office/powerpoint/2010/main" val="2053760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21</a:t>
            </a:fld>
            <a:endParaRPr lang="en-US"/>
          </a:p>
        </p:txBody>
      </p:sp>
    </p:spTree>
    <p:extLst>
      <p:ext uri="{BB962C8B-B14F-4D97-AF65-F5344CB8AC3E}">
        <p14:creationId xmlns:p14="http://schemas.microsoft.com/office/powerpoint/2010/main" val="1449578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dirty="0">
                <a:latin typeface="Century Gothic" panose="020B0502020202020204" pitchFamily="34" charset="0"/>
              </a:rPr>
              <a:t>At point of Medical assessment report ; </a:t>
            </a:r>
          </a:p>
          <a:p>
            <a:endParaRPr lang="en-CA" sz="1200" dirty="0">
              <a:latin typeface="Century Gothic" panose="020B0502020202020204" pitchFamily="34" charset="0"/>
            </a:endParaRPr>
          </a:p>
          <a:p>
            <a:r>
              <a:rPr lang="en-CA" sz="1200" dirty="0">
                <a:latin typeface="Century Gothic" panose="020B0502020202020204" pitchFamily="34" charset="0"/>
              </a:rPr>
              <a:t>Always keep your family doctor and/or registered nurse updated on your past and current health conditions.</a:t>
            </a:r>
          </a:p>
          <a:p>
            <a:r>
              <a:rPr lang="en-CA" sz="1200" dirty="0">
                <a:latin typeface="Century Gothic" panose="020B0502020202020204" pitchFamily="34" charset="0"/>
              </a:rPr>
              <a:t>If you have been granted Disability Status temporarily, it is your responsibility to request and follow the applicable treatment depending on the nature of your illness.</a:t>
            </a:r>
          </a:p>
          <a:p>
            <a:r>
              <a:rPr lang="en-CA" sz="1200" dirty="0">
                <a:latin typeface="Century Gothic" panose="020B0502020202020204" pitchFamily="34" charset="0"/>
              </a:rPr>
              <a:t>Request evaluations to your doctor, as needed (</a:t>
            </a:r>
            <a:r>
              <a:rPr lang="en-CA" sz="1200" dirty="0" err="1">
                <a:latin typeface="Century Gothic" panose="020B0502020202020204" pitchFamily="34" charset="0"/>
              </a:rPr>
              <a:t>ei</a:t>
            </a:r>
            <a:r>
              <a:rPr lang="en-CA" sz="1200" dirty="0">
                <a:latin typeface="Century Gothic" panose="020B0502020202020204" pitchFamily="34" charset="0"/>
              </a:rPr>
              <a:t>. MRI’s, CT Scan’s, Ultrasounds, etc.)</a:t>
            </a:r>
          </a:p>
          <a:p>
            <a:r>
              <a:rPr lang="en-CA" sz="1200" dirty="0">
                <a:latin typeface="Century Gothic" panose="020B0502020202020204" pitchFamily="34" charset="0"/>
              </a:rPr>
              <a:t>Remember, it is always better to ask a specialist to fill out the Disability Assessment Report instead of your family doctor and/or registered nurse.</a:t>
            </a:r>
          </a:p>
          <a:p>
            <a:r>
              <a:rPr lang="en-CA" sz="1200" dirty="0">
                <a:latin typeface="Century Gothic" panose="020B0502020202020204" pitchFamily="34" charset="0"/>
              </a:rPr>
              <a:t>Your doctor has to provide a very specific description of how your medical condition does not allow you to work enough to support yourself &amp; your dependents. </a:t>
            </a:r>
          </a:p>
          <a:p>
            <a:r>
              <a:rPr lang="en-CA" sz="1200" dirty="0">
                <a:latin typeface="Century Gothic" panose="020B0502020202020204" pitchFamily="34" charset="0"/>
              </a:rPr>
              <a:t>Always take time to fill out the Self Assessment Report. That is your only chance to explain to the Medical Panel in your own words how affected is your daily living.</a:t>
            </a:r>
          </a:p>
          <a:p>
            <a:endParaRPr lang="en-US" dirty="0"/>
          </a:p>
        </p:txBody>
      </p:sp>
      <p:sp>
        <p:nvSpPr>
          <p:cNvPr id="4" name="Slide Number Placeholder 3"/>
          <p:cNvSpPr>
            <a:spLocks noGrp="1"/>
          </p:cNvSpPr>
          <p:nvPr>
            <p:ph type="sldNum" sz="quarter" idx="5"/>
          </p:nvPr>
        </p:nvSpPr>
        <p:spPr/>
        <p:txBody>
          <a:bodyPr/>
          <a:lstStyle/>
          <a:p>
            <a:fld id="{89E20497-5368-1C47-9DBE-D1D59FB93EEB}" type="slidenum">
              <a:rPr lang="en-US" smtClean="0"/>
              <a:t>23</a:t>
            </a:fld>
            <a:endParaRPr lang="en-US"/>
          </a:p>
        </p:txBody>
      </p:sp>
    </p:spTree>
    <p:extLst>
      <p:ext uri="{BB962C8B-B14F-4D97-AF65-F5344CB8AC3E}">
        <p14:creationId xmlns:p14="http://schemas.microsoft.com/office/powerpoint/2010/main" val="1949737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24</a:t>
            </a:fld>
            <a:endParaRPr lang="en-US"/>
          </a:p>
        </p:txBody>
      </p:sp>
    </p:spTree>
    <p:extLst>
      <p:ext uri="{BB962C8B-B14F-4D97-AF65-F5344CB8AC3E}">
        <p14:creationId xmlns:p14="http://schemas.microsoft.com/office/powerpoint/2010/main" val="4140532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26</a:t>
            </a:fld>
            <a:endParaRPr lang="en-US"/>
          </a:p>
        </p:txBody>
      </p:sp>
    </p:spTree>
    <p:extLst>
      <p:ext uri="{BB962C8B-B14F-4D97-AF65-F5344CB8AC3E}">
        <p14:creationId xmlns:p14="http://schemas.microsoft.com/office/powerpoint/2010/main" val="24342521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27</a:t>
            </a:fld>
            <a:endParaRPr lang="en-US"/>
          </a:p>
        </p:txBody>
      </p:sp>
    </p:spTree>
    <p:extLst>
      <p:ext uri="{BB962C8B-B14F-4D97-AF65-F5344CB8AC3E}">
        <p14:creationId xmlns:p14="http://schemas.microsoft.com/office/powerpoint/2010/main" val="2153175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E20497-5368-1C47-9DBE-D1D59FB93EEB}" type="slidenum">
              <a:rPr lang="en-US" smtClean="0"/>
              <a:t>29</a:t>
            </a:fld>
            <a:endParaRPr lang="en-US"/>
          </a:p>
        </p:txBody>
      </p:sp>
    </p:spTree>
    <p:extLst>
      <p:ext uri="{BB962C8B-B14F-4D97-AF65-F5344CB8AC3E}">
        <p14:creationId xmlns:p14="http://schemas.microsoft.com/office/powerpoint/2010/main" val="15550356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DDDBC4A-76B2-B040-8886-B244002367CA}" type="slidenum">
              <a:rPr lang="en-US" smtClean="0"/>
              <a:t>31</a:t>
            </a:fld>
            <a:endParaRPr lang="en-US"/>
          </a:p>
        </p:txBody>
      </p:sp>
    </p:spTree>
    <p:extLst>
      <p:ext uri="{BB962C8B-B14F-4D97-AF65-F5344CB8AC3E}">
        <p14:creationId xmlns:p14="http://schemas.microsoft.com/office/powerpoint/2010/main" val="255282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A399F-B758-F6EB-D6C0-60ACA3E59F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48C7A4-121D-39E3-2042-DC6CFE3060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23E311-655F-CE20-586D-AD5B3187AAE8}"/>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5" name="Footer Placeholder 4">
            <a:extLst>
              <a:ext uri="{FF2B5EF4-FFF2-40B4-BE49-F238E27FC236}">
                <a16:creationId xmlns:a16="http://schemas.microsoft.com/office/drawing/2014/main" id="{A1BE8CC8-486F-07AE-9E09-CF20A0F048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88DBD7-2CA9-4AE9-C717-21DBB56E0AC3}"/>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1651052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167CA-3EA5-D24E-2EBF-2D7A67E67C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869E8D-1AEB-AB49-D816-1275EE5B3D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3DFFE2-C362-6DBE-1403-ECE3F00F6405}"/>
              </a:ext>
            </a:extLst>
          </p:cNvPr>
          <p:cNvSpPr>
            <a:spLocks noGrp="1"/>
          </p:cNvSpPr>
          <p:nvPr>
            <p:ph type="dt" sz="half" idx="10"/>
          </p:nvPr>
        </p:nvSpPr>
        <p:spPr/>
        <p:txBody>
          <a:bodyPr/>
          <a:lstStyle/>
          <a:p>
            <a:fld id="{E31AECAD-85BE-BA48-A188-B56D4E3B00F5}" type="datetimeFigureOut">
              <a:rPr lang="en-US" smtClean="0"/>
              <a:t>9/25/25</a:t>
            </a:fld>
            <a:endParaRPr lang="en-US"/>
          </a:p>
        </p:txBody>
      </p:sp>
      <p:sp>
        <p:nvSpPr>
          <p:cNvPr id="5" name="Footer Placeholder 4">
            <a:extLst>
              <a:ext uri="{FF2B5EF4-FFF2-40B4-BE49-F238E27FC236}">
                <a16:creationId xmlns:a16="http://schemas.microsoft.com/office/drawing/2014/main" id="{923DDC5A-3EB6-0258-C47A-0C98AC16A9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206A93-6410-AC9A-A82A-92039E92E40A}"/>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3092426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58E3B-90E8-6EE0-9D49-96B4CC6072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9263BAB-E87A-60C1-DA29-E57E67405E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554C54-6F1A-3640-AE2E-E14B9CE1E07A}"/>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5" name="Footer Placeholder 4">
            <a:extLst>
              <a:ext uri="{FF2B5EF4-FFF2-40B4-BE49-F238E27FC236}">
                <a16:creationId xmlns:a16="http://schemas.microsoft.com/office/drawing/2014/main" id="{40C0AA75-6E8F-059E-DD54-06D46C31CE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1D9A5E-6741-E7AD-8C68-133230A60AC7}"/>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2206951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7D47A-73E7-7225-EEF6-C1BA1756E9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23920F-3ED9-26A4-CEC3-DC05EEE060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9182B8-29CA-EE83-1010-7355AE8D31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28BC5D-79E4-75EF-2825-79118C7F073F}"/>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6" name="Footer Placeholder 5">
            <a:extLst>
              <a:ext uri="{FF2B5EF4-FFF2-40B4-BE49-F238E27FC236}">
                <a16:creationId xmlns:a16="http://schemas.microsoft.com/office/drawing/2014/main" id="{A5BD29EF-254A-4530-D430-7621AAF477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04C809-ECEC-F1D5-CD07-0BE948C241FB}"/>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1889160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148F2-3BFB-0F69-F1B1-62C3BA89CDF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3E0CF7-08C1-1778-BBBB-60F9B5BEEE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BF8D8A-11E1-24A6-DECA-8349016003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4212E8-6D07-7A15-D44A-8D708141A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A63D77-3B4A-2DA4-0AC7-D41C8A8235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8252B3A-7A51-8B94-8A22-7B9BA8F56915}"/>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8" name="Footer Placeholder 7">
            <a:extLst>
              <a:ext uri="{FF2B5EF4-FFF2-40B4-BE49-F238E27FC236}">
                <a16:creationId xmlns:a16="http://schemas.microsoft.com/office/drawing/2014/main" id="{A04C1D59-FB51-32B2-0C70-801E7F711C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D472A8-0912-C0E8-499F-7CC58113444A}"/>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4174525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7C85B-04FF-C4DE-2F27-D15C80C0E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18D412-9674-90E0-96D5-2D753BD45E1D}"/>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4" name="Footer Placeholder 3">
            <a:extLst>
              <a:ext uri="{FF2B5EF4-FFF2-40B4-BE49-F238E27FC236}">
                <a16:creationId xmlns:a16="http://schemas.microsoft.com/office/drawing/2014/main" id="{917A9EA5-02D7-76E9-36E6-2A4F758EB6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78C690-EFB4-9567-14EF-9C8070A851B2}"/>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3890524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C0842D-F944-8C24-AAD1-438E52D73E95}"/>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3" name="Footer Placeholder 2">
            <a:extLst>
              <a:ext uri="{FF2B5EF4-FFF2-40B4-BE49-F238E27FC236}">
                <a16:creationId xmlns:a16="http://schemas.microsoft.com/office/drawing/2014/main" id="{F2EFB124-18A9-88EC-F89A-C0B3B8E1A5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3E850E-2D7E-DABC-A875-803D75C24FD1}"/>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1130288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8914B-AC73-FBEA-649C-39A960E40C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450439-5242-AE58-EF99-E1B0BEB57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440167-F5F2-04E8-7C19-BC9650D7C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D086B-D5CE-B8A8-55FB-BF42F4E8D720}"/>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6" name="Footer Placeholder 5">
            <a:extLst>
              <a:ext uri="{FF2B5EF4-FFF2-40B4-BE49-F238E27FC236}">
                <a16:creationId xmlns:a16="http://schemas.microsoft.com/office/drawing/2014/main" id="{F175C185-DDDD-04CB-A7CD-4093A580C0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5980F5-A9D2-DC58-6F49-F0C51BE8FC5E}"/>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3465953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5BF74-C5F9-50BB-8CDE-DDFEF86B8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2247F8-F917-60FB-F574-E6935E8CDF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C200FF-F9BB-FF5E-8DE8-88B719C292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B269C2-6A65-8008-8D8A-27F02A422AAB}"/>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6" name="Footer Placeholder 5">
            <a:extLst>
              <a:ext uri="{FF2B5EF4-FFF2-40B4-BE49-F238E27FC236}">
                <a16:creationId xmlns:a16="http://schemas.microsoft.com/office/drawing/2014/main" id="{34E35D3A-810C-975F-3C44-59E2B1945A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E9153D-A84D-DD81-C085-0AA318D7771B}"/>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3619054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EC79D-CCC2-C979-A54A-6271C531D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FCA4B7-33D3-036B-FE0E-C936885A86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D8DAE1-8A67-65B2-A92E-A610E5B1B36E}"/>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5" name="Footer Placeholder 4">
            <a:extLst>
              <a:ext uri="{FF2B5EF4-FFF2-40B4-BE49-F238E27FC236}">
                <a16:creationId xmlns:a16="http://schemas.microsoft.com/office/drawing/2014/main" id="{916E143F-5959-756C-F7BF-ABA31FDA5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05A572-CCBD-1199-4130-3AB42DBF6834}"/>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967655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079A7-5D0B-13F1-486D-DE9DBDF44D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854717-4581-544A-2291-C3D4EC7A01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96493-4977-FB7F-4845-987BD2288C86}"/>
              </a:ext>
            </a:extLst>
          </p:cNvPr>
          <p:cNvSpPr>
            <a:spLocks noGrp="1"/>
          </p:cNvSpPr>
          <p:nvPr>
            <p:ph type="dt" sz="half" idx="10"/>
          </p:nvPr>
        </p:nvSpPr>
        <p:spPr/>
        <p:txBody>
          <a:bodyPr/>
          <a:lstStyle/>
          <a:p>
            <a:fld id="{E31AECAD-85BE-BA48-A188-B56D4E3B00F5}" type="datetimeFigureOut">
              <a:rPr lang="en-US" smtClean="0"/>
              <a:t>9/24/25</a:t>
            </a:fld>
            <a:endParaRPr lang="en-US"/>
          </a:p>
        </p:txBody>
      </p:sp>
      <p:sp>
        <p:nvSpPr>
          <p:cNvPr id="5" name="Footer Placeholder 4">
            <a:extLst>
              <a:ext uri="{FF2B5EF4-FFF2-40B4-BE49-F238E27FC236}">
                <a16:creationId xmlns:a16="http://schemas.microsoft.com/office/drawing/2014/main" id="{528E4307-EA4E-CB63-E007-44F08A4D31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5AB07F-24AA-2F12-254B-B743D5EF2D18}"/>
              </a:ext>
            </a:extLst>
          </p:cNvPr>
          <p:cNvSpPr>
            <a:spLocks noGrp="1"/>
          </p:cNvSpPr>
          <p:nvPr>
            <p:ph type="sldNum" sz="quarter" idx="12"/>
          </p:nvPr>
        </p:nvSpPr>
        <p:spPr/>
        <p:txBody>
          <a:bodyPr/>
          <a:lstStyle/>
          <a:p>
            <a:fld id="{0A91901F-748D-7C41-AE01-29D9094AF2A1}" type="slidenum">
              <a:rPr lang="en-US" smtClean="0"/>
              <a:t>‹#›</a:t>
            </a:fld>
            <a:endParaRPr lang="en-US"/>
          </a:p>
        </p:txBody>
      </p:sp>
    </p:spTree>
    <p:extLst>
      <p:ext uri="{BB962C8B-B14F-4D97-AF65-F5344CB8AC3E}">
        <p14:creationId xmlns:p14="http://schemas.microsoft.com/office/powerpoint/2010/main" val="586073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C9EAC7-385A-C112-833D-46C8092C87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DAFCA3-49C3-8FAA-DE4F-1CEE5157A4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C8410E-349F-582F-897A-B54F5364B5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1AECAD-85BE-BA48-A188-B56D4E3B00F5}" type="datetimeFigureOut">
              <a:rPr lang="en-US" smtClean="0"/>
              <a:t>9/24/25</a:t>
            </a:fld>
            <a:endParaRPr lang="en-US"/>
          </a:p>
        </p:txBody>
      </p:sp>
      <p:sp>
        <p:nvSpPr>
          <p:cNvPr id="5" name="Footer Placeholder 4">
            <a:extLst>
              <a:ext uri="{FF2B5EF4-FFF2-40B4-BE49-F238E27FC236}">
                <a16:creationId xmlns:a16="http://schemas.microsoft.com/office/drawing/2014/main" id="{B04294E2-A5FD-C8F9-4313-AF92FC1269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BAA2ED-D208-FF6A-8519-2B04599AF2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91901F-748D-7C41-AE01-29D9094AF2A1}" type="slidenum">
              <a:rPr lang="en-US" smtClean="0"/>
              <a:t>‹#›</a:t>
            </a:fld>
            <a:endParaRPr lang="en-US"/>
          </a:p>
        </p:txBody>
      </p:sp>
    </p:spTree>
    <p:extLst>
      <p:ext uri="{BB962C8B-B14F-4D97-AF65-F5344CB8AC3E}">
        <p14:creationId xmlns:p14="http://schemas.microsoft.com/office/powerpoint/2010/main" val="2525800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ov.mb.ca/fs/contacting-eia.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5.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mailto:fairpractices@gov.mb.ca"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6" name="Rectangle 1045">
            <a:extLst>
              <a:ext uri="{FF2B5EF4-FFF2-40B4-BE49-F238E27FC236}">
                <a16:creationId xmlns:a16="http://schemas.microsoft.com/office/drawing/2014/main" id="{2F4D5922-434B-4829-B93E-02DC38A29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F35FBA24-5C01-4635-A984-1DB6E340B0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0" name="Group 1049">
            <a:extLst>
              <a:ext uri="{FF2B5EF4-FFF2-40B4-BE49-F238E27FC236}">
                <a16:creationId xmlns:a16="http://schemas.microsoft.com/office/drawing/2014/main" id="{26C1B406-D643-4021-A6F0-2DD5466970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051" name="Oval 1050">
              <a:extLst>
                <a:ext uri="{FF2B5EF4-FFF2-40B4-BE49-F238E27FC236}">
                  <a16:creationId xmlns:a16="http://schemas.microsoft.com/office/drawing/2014/main" id="{8D1F6522-8579-43DA-854A-E28CBE13D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Oval 1051">
              <a:extLst>
                <a:ext uri="{FF2B5EF4-FFF2-40B4-BE49-F238E27FC236}">
                  <a16:creationId xmlns:a16="http://schemas.microsoft.com/office/drawing/2014/main" id="{99320D87-73DD-4D15-A224-C8D8EEC9A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Oval 1052">
              <a:extLst>
                <a:ext uri="{FF2B5EF4-FFF2-40B4-BE49-F238E27FC236}">
                  <a16:creationId xmlns:a16="http://schemas.microsoft.com/office/drawing/2014/main" id="{678418DD-1013-4BBE-9E02-1D4D1233C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Oval 1053">
              <a:extLst>
                <a:ext uri="{FF2B5EF4-FFF2-40B4-BE49-F238E27FC236}">
                  <a16:creationId xmlns:a16="http://schemas.microsoft.com/office/drawing/2014/main" id="{04281D6D-7CDF-4C97-B54C-5FE6177B5C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5" name="Oval 1054">
              <a:extLst>
                <a:ext uri="{FF2B5EF4-FFF2-40B4-BE49-F238E27FC236}">
                  <a16:creationId xmlns:a16="http://schemas.microsoft.com/office/drawing/2014/main" id="{CB64A9F5-F5A7-4276-A229-C498B4A85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Oval 1055">
              <a:extLst>
                <a:ext uri="{FF2B5EF4-FFF2-40B4-BE49-F238E27FC236}">
                  <a16:creationId xmlns:a16="http://schemas.microsoft.com/office/drawing/2014/main" id="{EA44C9B9-09AE-4D78-BBB5-972FB6088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E0DF5D9-E95A-4CFB-2BA3-4E2AA32E8757}"/>
              </a:ext>
            </a:extLst>
          </p:cNvPr>
          <p:cNvSpPr>
            <a:spLocks noGrp="1"/>
          </p:cNvSpPr>
          <p:nvPr>
            <p:ph type="ctrTitle"/>
          </p:nvPr>
        </p:nvSpPr>
        <p:spPr>
          <a:xfrm>
            <a:off x="630936" y="630936"/>
            <a:ext cx="6341652" cy="2819399"/>
          </a:xfrm>
          <a:noFill/>
        </p:spPr>
        <p:txBody>
          <a:bodyPr anchor="b">
            <a:normAutofit/>
          </a:bodyPr>
          <a:lstStyle/>
          <a:p>
            <a:pPr algn="l"/>
            <a:r>
              <a:rPr lang="en-US" sz="4800">
                <a:solidFill>
                  <a:schemeClr val="bg1"/>
                </a:solidFill>
              </a:rPr>
              <a:t>Employment and Income Assistance (EIA) Overview </a:t>
            </a:r>
          </a:p>
        </p:txBody>
      </p:sp>
      <p:pic>
        <p:nvPicPr>
          <p:cNvPr id="1026" name="Picture 2">
            <a:extLst>
              <a:ext uri="{FF2B5EF4-FFF2-40B4-BE49-F238E27FC236}">
                <a16:creationId xmlns:a16="http://schemas.microsoft.com/office/drawing/2014/main" id="{2ED47A68-81D7-4511-F44B-B31983E8865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678061" y="678060"/>
            <a:ext cx="1977130" cy="2430898"/>
          </a:xfrm>
          <a:prstGeom prst="rect">
            <a:avLst/>
          </a:prstGeom>
          <a:noFill/>
          <a:extLst>
            <a:ext uri="{909E8E84-426E-40DD-AFC4-6F175D3DCCD1}">
              <a14:hiddenFill xmlns:a14="http://schemas.microsoft.com/office/drawing/2010/main">
                <a:solidFill>
                  <a:srgbClr val="FFFFFF"/>
                </a:solidFill>
              </a14:hiddenFill>
            </a:ext>
          </a:extLst>
        </p:spPr>
      </p:pic>
      <p:grpSp>
        <p:nvGrpSpPr>
          <p:cNvPr id="1058" name="Group 1057">
            <a:extLst>
              <a:ext uri="{FF2B5EF4-FFF2-40B4-BE49-F238E27FC236}">
                <a16:creationId xmlns:a16="http://schemas.microsoft.com/office/drawing/2014/main" id="{8D2BC472-0671-410F-BA77-E46AA62106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7734301" y="849622"/>
            <a:ext cx="304800" cy="429768"/>
            <a:chOff x="215328" y="-46937"/>
            <a:chExt cx="304800" cy="2773841"/>
          </a:xfrm>
        </p:grpSpPr>
        <p:cxnSp>
          <p:nvCxnSpPr>
            <p:cNvPr id="1059" name="Straight Connector 1058">
              <a:extLst>
                <a:ext uri="{FF2B5EF4-FFF2-40B4-BE49-F238E27FC236}">
                  <a16:creationId xmlns:a16="http://schemas.microsoft.com/office/drawing/2014/main" id="{DC68B2A3-267E-4DE4-8DD5-C0378482D2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F6474CC6-D7FB-4A38-8991-680F048CFF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1" name="Straight Connector 1060">
              <a:extLst>
                <a:ext uri="{FF2B5EF4-FFF2-40B4-BE49-F238E27FC236}">
                  <a16:creationId xmlns:a16="http://schemas.microsoft.com/office/drawing/2014/main" id="{05825D0E-A1E4-4466-81B2-33325B3B3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A1BD1E16-C3EF-4A05-9C71-590A55BFC5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1064" name="Rectangle 1063">
            <a:extLst>
              <a:ext uri="{FF2B5EF4-FFF2-40B4-BE49-F238E27FC236}">
                <a16:creationId xmlns:a16="http://schemas.microsoft.com/office/drawing/2014/main" id="{5819102A-0400-4C1F-8614-973F5262EF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66" name="Group 1065">
            <a:extLst>
              <a:ext uri="{FF2B5EF4-FFF2-40B4-BE49-F238E27FC236}">
                <a16:creationId xmlns:a16="http://schemas.microsoft.com/office/drawing/2014/main" id="{B1A0CF5C-68C2-4432-BC2D-5A124C7B60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77278" y="4945279"/>
            <a:ext cx="1285875" cy="549007"/>
            <a:chOff x="7029447" y="3514725"/>
            <a:chExt cx="1285875" cy="549007"/>
          </a:xfrm>
        </p:grpSpPr>
        <p:cxnSp>
          <p:nvCxnSpPr>
            <p:cNvPr id="1067" name="Straight Connector 1066">
              <a:extLst>
                <a:ext uri="{FF2B5EF4-FFF2-40B4-BE49-F238E27FC236}">
                  <a16:creationId xmlns:a16="http://schemas.microsoft.com/office/drawing/2014/main" id="{73E76A51-C6FF-4566-9670-D405D4DA76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068" name="Straight Connector 1067">
              <a:extLst>
                <a:ext uri="{FF2B5EF4-FFF2-40B4-BE49-F238E27FC236}">
                  <a16:creationId xmlns:a16="http://schemas.microsoft.com/office/drawing/2014/main" id="{C069446D-7888-44DB-87EF-972BCEA0AB5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069" name="Straight Connector 1068">
              <a:extLst>
                <a:ext uri="{FF2B5EF4-FFF2-40B4-BE49-F238E27FC236}">
                  <a16:creationId xmlns:a16="http://schemas.microsoft.com/office/drawing/2014/main" id="{2450BCE5-EB53-44C2-B9B9-771BAD516CD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070" name="Straight Connector 1069">
              <a:extLst>
                <a:ext uri="{FF2B5EF4-FFF2-40B4-BE49-F238E27FC236}">
                  <a16:creationId xmlns:a16="http://schemas.microsoft.com/office/drawing/2014/main" id="{8B2D4461-C687-4A45-933F-C4CCB4E24F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1072" name="Rectangle 1071">
            <a:extLst>
              <a:ext uri="{FF2B5EF4-FFF2-40B4-BE49-F238E27FC236}">
                <a16:creationId xmlns:a16="http://schemas.microsoft.com/office/drawing/2014/main" id="{CF1485CA-41D2-421F-B28D-15EF845D5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74" name="Group 1073">
            <a:extLst>
              <a:ext uri="{FF2B5EF4-FFF2-40B4-BE49-F238E27FC236}">
                <a16:creationId xmlns:a16="http://schemas.microsoft.com/office/drawing/2014/main" id="{04ED96A1-E6CA-493F-8610-6B8B7A28E3E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1075" name="Straight Connector 1074">
              <a:extLst>
                <a:ext uri="{FF2B5EF4-FFF2-40B4-BE49-F238E27FC236}">
                  <a16:creationId xmlns:a16="http://schemas.microsoft.com/office/drawing/2014/main" id="{3C9231B8-0812-4FDE-9AC6-94984E20AC0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076" name="Straight Connector 1075">
              <a:extLst>
                <a:ext uri="{FF2B5EF4-FFF2-40B4-BE49-F238E27FC236}">
                  <a16:creationId xmlns:a16="http://schemas.microsoft.com/office/drawing/2014/main" id="{4BF59FE3-7AD8-46E8-9440-D268639942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077" name="Straight Connector 1076">
              <a:extLst>
                <a:ext uri="{FF2B5EF4-FFF2-40B4-BE49-F238E27FC236}">
                  <a16:creationId xmlns:a16="http://schemas.microsoft.com/office/drawing/2014/main" id="{6EEEDF00-F676-4147-BAF0-64840E2857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1078" name="Straight Connector 1077">
              <a:extLst>
                <a:ext uri="{FF2B5EF4-FFF2-40B4-BE49-F238E27FC236}">
                  <a16:creationId xmlns:a16="http://schemas.microsoft.com/office/drawing/2014/main" id="{94D3F73A-55E6-4A58-872D-BE9E9C7C30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Subtitle 2">
            <a:extLst>
              <a:ext uri="{FF2B5EF4-FFF2-40B4-BE49-F238E27FC236}">
                <a16:creationId xmlns:a16="http://schemas.microsoft.com/office/drawing/2014/main" id="{4829CE89-34C5-34EF-93CC-F0973DA180FD}"/>
              </a:ext>
            </a:extLst>
          </p:cNvPr>
          <p:cNvSpPr>
            <a:spLocks noGrp="1"/>
          </p:cNvSpPr>
          <p:nvPr>
            <p:ph type="subTitle" idx="1"/>
          </p:nvPr>
        </p:nvSpPr>
        <p:spPr>
          <a:xfrm>
            <a:off x="630936" y="3681462"/>
            <a:ext cx="6341652" cy="2453066"/>
          </a:xfrm>
          <a:noFill/>
        </p:spPr>
        <p:txBody>
          <a:bodyPr anchor="t">
            <a:normAutofit/>
          </a:bodyPr>
          <a:lstStyle/>
          <a:p>
            <a:pPr algn="l"/>
            <a:r>
              <a:rPr lang="en-US">
                <a:solidFill>
                  <a:schemeClr val="bg1"/>
                </a:solidFill>
              </a:rPr>
              <a:t>Fareedah Sulaiman, CUHC Advocate</a:t>
            </a:r>
          </a:p>
        </p:txBody>
      </p:sp>
      <p:pic>
        <p:nvPicPr>
          <p:cNvPr id="1030" name="Picture 6" descr="West Broadway Community Organization">
            <a:extLst>
              <a:ext uri="{FF2B5EF4-FFF2-40B4-BE49-F238E27FC236}">
                <a16:creationId xmlns:a16="http://schemas.microsoft.com/office/drawing/2014/main" id="{AF12F982-AB15-1D37-9391-553046AE5E6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789946" y="5789189"/>
            <a:ext cx="1381608" cy="1055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201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6E82-7AD1-C54C-356D-55EC1BE8BFA7}"/>
              </a:ext>
            </a:extLst>
          </p:cNvPr>
          <p:cNvSpPr>
            <a:spLocks noGrp="1"/>
          </p:cNvSpPr>
          <p:nvPr>
            <p:ph type="title"/>
          </p:nvPr>
        </p:nvSpPr>
        <p:spPr/>
        <p:txBody>
          <a:bodyPr/>
          <a:lstStyle/>
          <a:p>
            <a:r>
              <a:rPr lang="en-US" dirty="0"/>
              <a:t>Who we are </a:t>
            </a:r>
          </a:p>
        </p:txBody>
      </p:sp>
      <p:sp>
        <p:nvSpPr>
          <p:cNvPr id="5" name="Content Placeholder 4">
            <a:extLst>
              <a:ext uri="{FF2B5EF4-FFF2-40B4-BE49-F238E27FC236}">
                <a16:creationId xmlns:a16="http://schemas.microsoft.com/office/drawing/2014/main" id="{A341930F-F3CE-13AC-1A32-006C01CC93E0}"/>
              </a:ext>
            </a:extLst>
          </p:cNvPr>
          <p:cNvSpPr>
            <a:spLocks noGrp="1"/>
          </p:cNvSpPr>
          <p:nvPr>
            <p:ph idx="1"/>
          </p:nvPr>
        </p:nvSpPr>
        <p:spPr>
          <a:xfrm>
            <a:off x="974125" y="1690688"/>
            <a:ext cx="10515600" cy="3460861"/>
          </a:xfrm>
        </p:spPr>
        <p:txBody>
          <a:bodyPr>
            <a:normAutofit fontScale="70000" lnSpcReduction="20000"/>
          </a:bodyPr>
          <a:lstStyle/>
          <a:p>
            <a:pPr fontAlgn="base">
              <a:lnSpc>
                <a:spcPct val="120000"/>
              </a:lnSpc>
            </a:pPr>
            <a:r>
              <a:rPr lang="en-US" sz="2400" dirty="0"/>
              <a:t>We are a non-profit organization, independent of the Federal and Provincial Government.​</a:t>
            </a:r>
          </a:p>
          <a:p>
            <a:pPr lvl="1" fontAlgn="base">
              <a:lnSpc>
                <a:spcPct val="120000"/>
              </a:lnSpc>
            </a:pPr>
            <a:r>
              <a:rPr lang="en-US" sz="2000" dirty="0"/>
              <a:t>We work with the government, not for them.​</a:t>
            </a:r>
          </a:p>
          <a:p>
            <a:pPr fontAlgn="base">
              <a:lnSpc>
                <a:spcPct val="120000"/>
              </a:lnSpc>
            </a:pPr>
            <a:r>
              <a:rPr lang="en-US" sz="2400" dirty="0"/>
              <a:t>We offer public advice &amp; education on both systems​</a:t>
            </a:r>
          </a:p>
          <a:p>
            <a:pPr fontAlgn="base">
              <a:lnSpc>
                <a:spcPct val="120000"/>
              </a:lnSpc>
            </a:pPr>
            <a:r>
              <a:rPr lang="en-US" sz="2400" dirty="0"/>
              <a:t>Refer people to the appropriate agency to meet their needs​</a:t>
            </a:r>
          </a:p>
          <a:p>
            <a:pPr fontAlgn="base">
              <a:lnSpc>
                <a:spcPct val="120000"/>
              </a:lnSpc>
            </a:pPr>
            <a:r>
              <a:rPr lang="en-US" sz="2400" dirty="0"/>
              <a:t>Advocate for people having problems with EI or EIA​</a:t>
            </a:r>
          </a:p>
          <a:p>
            <a:pPr fontAlgn="base">
              <a:lnSpc>
                <a:spcPct val="120000"/>
              </a:lnSpc>
            </a:pPr>
            <a:r>
              <a:rPr lang="en-US" sz="2400" dirty="0"/>
              <a:t>Represent clients at appeals ​</a:t>
            </a:r>
          </a:p>
          <a:p>
            <a:pPr fontAlgn="base">
              <a:lnSpc>
                <a:spcPct val="120000"/>
              </a:lnSpc>
            </a:pPr>
            <a:r>
              <a:rPr lang="en-US" sz="2400" dirty="0"/>
              <a:t>Communicate with both systems on your behalf. ​</a:t>
            </a:r>
          </a:p>
          <a:p>
            <a:pPr fontAlgn="base">
              <a:lnSpc>
                <a:spcPct val="120000"/>
              </a:lnSpc>
            </a:pPr>
            <a:r>
              <a:rPr lang="en-US" sz="2400" dirty="0"/>
              <a:t>Determine if you were wrongfully denied any type of benefit despite being eligible and advocate for your rights to receive said benefits​</a:t>
            </a:r>
          </a:p>
        </p:txBody>
      </p:sp>
      <p:sp>
        <p:nvSpPr>
          <p:cNvPr id="7" name="TextBox 6">
            <a:extLst>
              <a:ext uri="{FF2B5EF4-FFF2-40B4-BE49-F238E27FC236}">
                <a16:creationId xmlns:a16="http://schemas.microsoft.com/office/drawing/2014/main" id="{E1CD111A-3C65-14CF-12B2-25D090724B97}"/>
              </a:ext>
            </a:extLst>
          </p:cNvPr>
          <p:cNvSpPr txBox="1"/>
          <p:nvPr/>
        </p:nvSpPr>
        <p:spPr>
          <a:xfrm>
            <a:off x="3951073" y="6176963"/>
            <a:ext cx="6098058" cy="369332"/>
          </a:xfrm>
          <a:prstGeom prst="rect">
            <a:avLst/>
          </a:prstGeom>
          <a:noFill/>
        </p:spPr>
        <p:txBody>
          <a:bodyPr wrap="square">
            <a:spAutoFit/>
          </a:bodyPr>
          <a:lstStyle/>
          <a:p>
            <a:r>
              <a:rPr lang="en-US" sz="1800" b="1" i="1" u="none" strike="noStrike" dirty="0">
                <a:solidFill>
                  <a:srgbClr val="8C1037"/>
                </a:solidFill>
                <a:effectLst/>
                <a:latin typeface="Century Gothic" panose="020B0502020202020204" pitchFamily="34" charset="0"/>
              </a:rPr>
              <a:t>All CUHC services are free of charge</a:t>
            </a:r>
            <a:r>
              <a:rPr lang="en-US" sz="1800" b="0" i="0" dirty="0">
                <a:solidFill>
                  <a:srgbClr val="000000"/>
                </a:solidFill>
                <a:effectLst/>
                <a:latin typeface="Century Gothic" panose="020B0502020202020204" pitchFamily="34" charset="0"/>
              </a:rPr>
              <a:t>​</a:t>
            </a:r>
            <a:endParaRPr lang="en-US" dirty="0"/>
          </a:p>
        </p:txBody>
      </p:sp>
      <p:pic>
        <p:nvPicPr>
          <p:cNvPr id="2054" name="Picture 6">
            <a:extLst>
              <a:ext uri="{FF2B5EF4-FFF2-40B4-BE49-F238E27FC236}">
                <a16:creationId xmlns:a16="http://schemas.microsoft.com/office/drawing/2014/main" id="{32393C50-5799-B25F-2DF7-68589CE19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6300" y="5386893"/>
            <a:ext cx="1003149" cy="1233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063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9B882-20C2-D911-3746-013F4C8BFFE0}"/>
              </a:ext>
            </a:extLst>
          </p:cNvPr>
          <p:cNvSpPr>
            <a:spLocks noGrp="1"/>
          </p:cNvSpPr>
          <p:nvPr>
            <p:ph type="title"/>
          </p:nvPr>
        </p:nvSpPr>
        <p:spPr/>
        <p:txBody>
          <a:bodyPr/>
          <a:lstStyle/>
          <a:p>
            <a:r>
              <a:rPr lang="en-US" dirty="0"/>
              <a:t>Disclaimer</a:t>
            </a:r>
          </a:p>
        </p:txBody>
      </p:sp>
      <p:sp>
        <p:nvSpPr>
          <p:cNvPr id="3" name="Content Placeholder 2">
            <a:extLst>
              <a:ext uri="{FF2B5EF4-FFF2-40B4-BE49-F238E27FC236}">
                <a16:creationId xmlns:a16="http://schemas.microsoft.com/office/drawing/2014/main" id="{CEE2E882-5D94-C0D6-51A1-7AEF7809886B}"/>
              </a:ext>
            </a:extLst>
          </p:cNvPr>
          <p:cNvSpPr>
            <a:spLocks noGrp="1"/>
          </p:cNvSpPr>
          <p:nvPr>
            <p:ph idx="1"/>
          </p:nvPr>
        </p:nvSpPr>
        <p:spPr/>
        <p:txBody>
          <a:bodyPr/>
          <a:lstStyle/>
          <a:p>
            <a:pPr fontAlgn="base">
              <a:lnSpc>
                <a:spcPct val="100000"/>
              </a:lnSpc>
            </a:pPr>
            <a:r>
              <a:rPr lang="en-CA" sz="2400" dirty="0"/>
              <a:t>All the information provided today is based on information from MB legislation, the EIA Administration Manual and collaborations with the department</a:t>
            </a:r>
            <a:r>
              <a:rPr lang="en-US" sz="2400" dirty="0"/>
              <a:t>​</a:t>
            </a:r>
          </a:p>
          <a:p>
            <a:pPr fontAlgn="base">
              <a:lnSpc>
                <a:spcPct val="100000"/>
              </a:lnSpc>
            </a:pPr>
            <a:r>
              <a:rPr lang="en-CA" sz="2400" dirty="0"/>
              <a:t>Please take into consideration that this information can change at any time</a:t>
            </a:r>
            <a:r>
              <a:rPr lang="en-US" sz="2400" dirty="0"/>
              <a:t>​</a:t>
            </a:r>
          </a:p>
          <a:p>
            <a:pPr fontAlgn="base">
              <a:lnSpc>
                <a:spcPct val="100000"/>
              </a:lnSpc>
            </a:pPr>
            <a:r>
              <a:rPr lang="en-CA" sz="2400" dirty="0"/>
              <a:t>Some EIA decisions are made on a case-by-case basis. The department considers individual circumstances &amp; expenses (we can help with this too)</a:t>
            </a:r>
            <a:r>
              <a:rPr lang="en-US" sz="2400" dirty="0"/>
              <a:t>​</a:t>
            </a:r>
          </a:p>
          <a:p>
            <a:pPr marL="0" indent="0">
              <a:buNone/>
            </a:pPr>
            <a:endParaRPr lang="en-US" dirty="0"/>
          </a:p>
        </p:txBody>
      </p:sp>
      <p:pic>
        <p:nvPicPr>
          <p:cNvPr id="4" name="Picture 6">
            <a:extLst>
              <a:ext uri="{FF2B5EF4-FFF2-40B4-BE49-F238E27FC236}">
                <a16:creationId xmlns:a16="http://schemas.microsoft.com/office/drawing/2014/main" id="{656DB8F2-88C0-21EC-77BF-35CCAD7FB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0120" y="5401319"/>
            <a:ext cx="1003149" cy="1233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4051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0154D-D2F9-748D-FD7A-917419575593}"/>
              </a:ext>
            </a:extLst>
          </p:cNvPr>
          <p:cNvSpPr>
            <a:spLocks noGrp="1"/>
          </p:cNvSpPr>
          <p:nvPr>
            <p:ph type="title"/>
          </p:nvPr>
        </p:nvSpPr>
        <p:spPr/>
        <p:txBody>
          <a:bodyPr/>
          <a:lstStyle/>
          <a:p>
            <a:r>
              <a:rPr lang="en-US" cap="all" dirty="0"/>
              <a:t>EIA – How to apply</a:t>
            </a:r>
            <a:endParaRPr lang="en-US" dirty="0"/>
          </a:p>
        </p:txBody>
      </p:sp>
      <p:sp>
        <p:nvSpPr>
          <p:cNvPr id="3" name="Content Placeholder 2">
            <a:extLst>
              <a:ext uri="{FF2B5EF4-FFF2-40B4-BE49-F238E27FC236}">
                <a16:creationId xmlns:a16="http://schemas.microsoft.com/office/drawing/2014/main" id="{84B7F9B1-1603-94E0-B64F-E5427E3CFCDF}"/>
              </a:ext>
            </a:extLst>
          </p:cNvPr>
          <p:cNvSpPr>
            <a:spLocks noGrp="1"/>
          </p:cNvSpPr>
          <p:nvPr>
            <p:ph idx="1"/>
          </p:nvPr>
        </p:nvSpPr>
        <p:spPr/>
        <p:txBody>
          <a:bodyPr>
            <a:normAutofit/>
          </a:bodyPr>
          <a:lstStyle/>
          <a:p>
            <a:pPr fontAlgn="base"/>
            <a:r>
              <a:rPr lang="en-US" dirty="0"/>
              <a:t>In person ​</a:t>
            </a:r>
          </a:p>
          <a:p>
            <a:pPr lvl="1" fontAlgn="base"/>
            <a:r>
              <a:rPr lang="en-CA" dirty="0"/>
              <a:t>111 Rorie Street office </a:t>
            </a:r>
            <a:r>
              <a:rPr lang="en-US" dirty="0"/>
              <a:t>or 128 Market Ave ​</a:t>
            </a:r>
            <a:r>
              <a:rPr lang="en-CA" dirty="0"/>
              <a:t>if you have children. </a:t>
            </a:r>
            <a:endParaRPr lang="en-US" dirty="0"/>
          </a:p>
          <a:p>
            <a:pPr fontAlgn="base"/>
            <a:r>
              <a:rPr lang="en-US" dirty="0"/>
              <a:t>If you have a disability that prevents you from attending in person you can contact the call center at </a:t>
            </a:r>
            <a:r>
              <a:rPr lang="en-US" b="1" dirty="0"/>
              <a:t>(204) 948-2888​ </a:t>
            </a:r>
            <a:r>
              <a:rPr lang="en-US" dirty="0"/>
              <a:t>to arrange an over-the phone appointment. ​</a:t>
            </a:r>
          </a:p>
          <a:p>
            <a:pPr marL="0" indent="0">
              <a:buNone/>
            </a:pPr>
            <a:endParaRPr lang="en-US" dirty="0"/>
          </a:p>
          <a:p>
            <a:pPr marL="0" indent="0" algn="ctr">
              <a:buNone/>
            </a:pPr>
            <a:r>
              <a:rPr lang="en-US" sz="2000" i="1" dirty="0"/>
              <a:t>All Manitoba Residents are entitled to an intake appointment regardless of their financial situation or ability to work.​</a:t>
            </a:r>
          </a:p>
          <a:p>
            <a:endParaRPr lang="en-US" dirty="0"/>
          </a:p>
        </p:txBody>
      </p:sp>
      <p:pic>
        <p:nvPicPr>
          <p:cNvPr id="4" name="Picture 6">
            <a:extLst>
              <a:ext uri="{FF2B5EF4-FFF2-40B4-BE49-F238E27FC236}">
                <a16:creationId xmlns:a16="http://schemas.microsoft.com/office/drawing/2014/main" id="{F3CBC5DB-7669-0297-02D3-8E54A6D83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0120" y="5401319"/>
            <a:ext cx="1003149" cy="1233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747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95F21-EEDE-E790-A412-8B4700A180A3}"/>
              </a:ext>
            </a:extLst>
          </p:cNvPr>
          <p:cNvSpPr>
            <a:spLocks noGrp="1"/>
          </p:cNvSpPr>
          <p:nvPr>
            <p:ph type="title"/>
          </p:nvPr>
        </p:nvSpPr>
        <p:spPr/>
        <p:txBody>
          <a:bodyPr/>
          <a:lstStyle/>
          <a:p>
            <a:r>
              <a:rPr lang="en-US" dirty="0"/>
              <a:t>Prior to Intake</a:t>
            </a:r>
          </a:p>
        </p:txBody>
      </p:sp>
      <p:sp>
        <p:nvSpPr>
          <p:cNvPr id="3" name="Content Placeholder 2">
            <a:extLst>
              <a:ext uri="{FF2B5EF4-FFF2-40B4-BE49-F238E27FC236}">
                <a16:creationId xmlns:a16="http://schemas.microsoft.com/office/drawing/2014/main" id="{FF6CD0D5-D8F6-64CC-AE68-208890B18F16}"/>
              </a:ext>
            </a:extLst>
          </p:cNvPr>
          <p:cNvSpPr>
            <a:spLocks noGrp="1"/>
          </p:cNvSpPr>
          <p:nvPr>
            <p:ph idx="1"/>
          </p:nvPr>
        </p:nvSpPr>
        <p:spPr/>
        <p:txBody>
          <a:bodyPr/>
          <a:lstStyle/>
          <a:p>
            <a:pPr>
              <a:lnSpc>
                <a:spcPct val="100000"/>
              </a:lnSpc>
            </a:pPr>
            <a:r>
              <a:rPr lang="en-US" dirty="0"/>
              <a:t>Review the EIA Checklist to get the mandatory documentation according to the category you are applying for</a:t>
            </a:r>
          </a:p>
          <a:p>
            <a:pPr>
              <a:lnSpc>
                <a:spcPct val="100000"/>
              </a:lnSpc>
            </a:pPr>
            <a:r>
              <a:rPr lang="en-US" dirty="0"/>
              <a:t>The bank statements have to be up to the date of your Intake appointment ​</a:t>
            </a:r>
          </a:p>
          <a:p>
            <a:endParaRPr lang="en-US" dirty="0"/>
          </a:p>
          <a:p>
            <a:endParaRPr lang="en-US" dirty="0"/>
          </a:p>
        </p:txBody>
      </p:sp>
      <p:pic>
        <p:nvPicPr>
          <p:cNvPr id="4" name="Picture 6">
            <a:extLst>
              <a:ext uri="{FF2B5EF4-FFF2-40B4-BE49-F238E27FC236}">
                <a16:creationId xmlns:a16="http://schemas.microsoft.com/office/drawing/2014/main" id="{92586C3E-1877-2566-387E-7FE39BC7E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0120" y="5401319"/>
            <a:ext cx="1003149" cy="1233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9516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BE2F6-3C29-007A-856E-49615738C62C}"/>
              </a:ext>
            </a:extLst>
          </p:cNvPr>
          <p:cNvSpPr>
            <a:spLocks noGrp="1"/>
          </p:cNvSpPr>
          <p:nvPr>
            <p:ph type="title"/>
          </p:nvPr>
        </p:nvSpPr>
        <p:spPr/>
        <p:txBody>
          <a:bodyPr/>
          <a:lstStyle/>
          <a:p>
            <a:r>
              <a:rPr lang="en-US" dirty="0"/>
              <a:t>EIA Checklist </a:t>
            </a:r>
          </a:p>
        </p:txBody>
      </p:sp>
      <p:pic>
        <p:nvPicPr>
          <p:cNvPr id="5" name="Content Placeholder 4" descr="A blue and white form with text&#10;&#10;AI-generated content may be incorrect.">
            <a:extLst>
              <a:ext uri="{FF2B5EF4-FFF2-40B4-BE49-F238E27FC236}">
                <a16:creationId xmlns:a16="http://schemas.microsoft.com/office/drawing/2014/main" id="{0BC89705-1BFB-5117-3C44-31F19A128EC9}"/>
              </a:ext>
            </a:extLst>
          </p:cNvPr>
          <p:cNvPicPr>
            <a:picLocks noGrp="1" noChangeAspect="1"/>
          </p:cNvPicPr>
          <p:nvPr>
            <p:ph idx="1"/>
          </p:nvPr>
        </p:nvPicPr>
        <p:blipFill>
          <a:blip r:embed="rId2"/>
          <a:stretch>
            <a:fillRect/>
          </a:stretch>
        </p:blipFill>
        <p:spPr>
          <a:xfrm>
            <a:off x="6618215" y="1438682"/>
            <a:ext cx="3784646" cy="4603940"/>
          </a:xfrm>
        </p:spPr>
      </p:pic>
      <p:pic>
        <p:nvPicPr>
          <p:cNvPr id="7" name="Picture 6" descr="A blue and white form with text&#10;&#10;AI-generated content may be incorrect.">
            <a:extLst>
              <a:ext uri="{FF2B5EF4-FFF2-40B4-BE49-F238E27FC236}">
                <a16:creationId xmlns:a16="http://schemas.microsoft.com/office/drawing/2014/main" id="{9F9FA151-BADA-9C45-CB37-60BEB3259B07}"/>
              </a:ext>
            </a:extLst>
          </p:cNvPr>
          <p:cNvPicPr>
            <a:picLocks noChangeAspect="1"/>
          </p:cNvPicPr>
          <p:nvPr/>
        </p:nvPicPr>
        <p:blipFill>
          <a:blip r:embed="rId3"/>
          <a:stretch>
            <a:fillRect/>
          </a:stretch>
        </p:blipFill>
        <p:spPr>
          <a:xfrm>
            <a:off x="1789139" y="1438682"/>
            <a:ext cx="3576997" cy="4603941"/>
          </a:xfrm>
          <a:prstGeom prst="rect">
            <a:avLst/>
          </a:prstGeom>
        </p:spPr>
      </p:pic>
      <p:pic>
        <p:nvPicPr>
          <p:cNvPr id="8" name="Picture 6">
            <a:extLst>
              <a:ext uri="{FF2B5EF4-FFF2-40B4-BE49-F238E27FC236}">
                <a16:creationId xmlns:a16="http://schemas.microsoft.com/office/drawing/2014/main" id="{CEC90EFB-016E-282F-E22D-0B21F9D3D2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40120" y="5401319"/>
            <a:ext cx="1003149" cy="1233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0643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9334-4CF0-1C7F-B3F0-51CD70AE7F1C}"/>
              </a:ext>
            </a:extLst>
          </p:cNvPr>
          <p:cNvSpPr>
            <a:spLocks noGrp="1"/>
          </p:cNvSpPr>
          <p:nvPr>
            <p:ph type="title"/>
          </p:nvPr>
        </p:nvSpPr>
        <p:spPr>
          <a:xfrm>
            <a:off x="581192" y="702156"/>
            <a:ext cx="11029616" cy="1013800"/>
          </a:xfrm>
        </p:spPr>
        <p:txBody>
          <a:bodyPr anchor="ctr">
            <a:normAutofit/>
          </a:bodyPr>
          <a:lstStyle/>
          <a:p>
            <a:r>
              <a:rPr lang="en-US" dirty="0"/>
              <a:t>Identification</a:t>
            </a:r>
          </a:p>
        </p:txBody>
      </p:sp>
      <p:sp>
        <p:nvSpPr>
          <p:cNvPr id="3" name="Content Placeholder 2">
            <a:extLst>
              <a:ext uri="{FF2B5EF4-FFF2-40B4-BE49-F238E27FC236}">
                <a16:creationId xmlns:a16="http://schemas.microsoft.com/office/drawing/2014/main" id="{9B893F02-05A1-925C-5A21-329B74C89201}"/>
              </a:ext>
            </a:extLst>
          </p:cNvPr>
          <p:cNvSpPr>
            <a:spLocks noGrp="1"/>
          </p:cNvSpPr>
          <p:nvPr>
            <p:ph idx="1"/>
          </p:nvPr>
        </p:nvSpPr>
        <p:spPr>
          <a:xfrm>
            <a:off x="581192" y="2403141"/>
            <a:ext cx="10760576" cy="3051175"/>
          </a:xfrm>
        </p:spPr>
        <p:txBody>
          <a:bodyPr anchor="t">
            <a:normAutofit/>
          </a:bodyPr>
          <a:lstStyle/>
          <a:p>
            <a:r>
              <a:rPr lang="en-US" sz="2200" dirty="0"/>
              <a:t>If you do not have your ID’s, you can provide written confirmation that you have applied for new ones.   (</a:t>
            </a:r>
            <a:r>
              <a:rPr lang="en-US" sz="2200" dirty="0" err="1"/>
              <a:t>e.i.</a:t>
            </a:r>
            <a:r>
              <a:rPr lang="en-US" sz="2200" dirty="0"/>
              <a:t> Citizens Bridge, SEED Winnipeg, etc.)</a:t>
            </a:r>
          </a:p>
          <a:p>
            <a:r>
              <a:rPr lang="en-US" sz="2200" dirty="0"/>
              <a:t>Some 3rd Party confirmation of your identity (</a:t>
            </a:r>
            <a:r>
              <a:rPr lang="en-US" sz="2200" dirty="0" err="1"/>
              <a:t>e.i.</a:t>
            </a:r>
            <a:r>
              <a:rPr lang="en-US" sz="2200" dirty="0"/>
              <a:t> End Homelessness Winnipeg staff, AFM, CFS, could write a short document to inform EIA, they know their client to be “Jane Doe/John Doe” and for how long they have interacted with them).</a:t>
            </a:r>
          </a:p>
        </p:txBody>
      </p:sp>
      <p:pic>
        <p:nvPicPr>
          <p:cNvPr id="6" name="Picture 5">
            <a:extLst>
              <a:ext uri="{FF2B5EF4-FFF2-40B4-BE49-F238E27FC236}">
                <a16:creationId xmlns:a16="http://schemas.microsoft.com/office/drawing/2014/main" id="{9EAEADFA-F512-9E93-C1B8-276F075BAA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932515" y="5550568"/>
            <a:ext cx="746818" cy="918219"/>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1376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581192" y="702156"/>
            <a:ext cx="11029616" cy="1013800"/>
          </a:xfrm>
        </p:spPr>
        <p:txBody>
          <a:bodyPr anchor="ctr">
            <a:normAutofit/>
          </a:bodyPr>
          <a:lstStyle/>
          <a:p>
            <a:r>
              <a:rPr lang="en-US" sz="3200" dirty="0"/>
              <a:t>During Intake</a:t>
            </a:r>
          </a:p>
        </p:txBody>
      </p:sp>
      <p:pic>
        <p:nvPicPr>
          <p:cNvPr id="5" name="Picture 4" descr="A blank statement form with black lines&#10;&#10;Description automatically generated">
            <a:extLst>
              <a:ext uri="{FF2B5EF4-FFF2-40B4-BE49-F238E27FC236}">
                <a16:creationId xmlns:a16="http://schemas.microsoft.com/office/drawing/2014/main" id="{B8C887E4-01AF-01F3-50FD-9EEE7D7D5C86}"/>
              </a:ext>
            </a:extLst>
          </p:cNvPr>
          <p:cNvPicPr>
            <a:picLocks noChangeAspect="1"/>
          </p:cNvPicPr>
          <p:nvPr/>
        </p:nvPicPr>
        <p:blipFill rotWithShape="1">
          <a:blip r:embed="rId3"/>
          <a:srcRect r="-3" b="14706"/>
          <a:stretch/>
        </p:blipFill>
        <p:spPr>
          <a:xfrm>
            <a:off x="657225" y="2361056"/>
            <a:ext cx="3321217" cy="3666931"/>
          </a:xfrm>
          <a:prstGeom prst="rect">
            <a:avLst/>
          </a:prstGeom>
        </p:spPr>
      </p:pic>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4429292" y="826532"/>
            <a:ext cx="7105483" cy="5727464"/>
          </a:xfrm>
        </p:spPr>
        <p:txBody>
          <a:bodyPr>
            <a:normAutofit fontScale="25000" lnSpcReduction="20000"/>
          </a:bodyPr>
          <a:lstStyle/>
          <a:p>
            <a:pPr marL="609600" indent="-609600">
              <a:buFont typeface="Times" panose="02020603050405020304" pitchFamily="18" charset="0"/>
              <a:buChar char="•"/>
            </a:pPr>
            <a:r>
              <a:rPr lang="en-US" altLang="en-US" sz="7200" dirty="0">
                <a:solidFill>
                  <a:schemeClr val="tx1"/>
                </a:solidFill>
              </a:rPr>
              <a:t>The bank statements provided have to be up </a:t>
            </a:r>
            <a:r>
              <a:rPr lang="en-US" sz="7200" dirty="0"/>
              <a:t>to the date of your Intake​,</a:t>
            </a:r>
            <a:r>
              <a:rPr lang="en-US" altLang="en-US" sz="7200" dirty="0">
                <a:solidFill>
                  <a:schemeClr val="tx1"/>
                </a:solidFill>
              </a:rPr>
              <a:t> from the last 60 days </a:t>
            </a:r>
          </a:p>
          <a:p>
            <a:pPr marL="609600" indent="-609600">
              <a:buFont typeface="Times" panose="02020603050405020304" pitchFamily="18" charset="0"/>
              <a:buChar char="•"/>
            </a:pPr>
            <a:r>
              <a:rPr lang="en-US" altLang="en-US" sz="7200" dirty="0">
                <a:solidFill>
                  <a:schemeClr val="tx1"/>
                </a:solidFill>
              </a:rPr>
              <a:t>In the absence of a bank account, you can use this template form to document all cash or assets you have.</a:t>
            </a:r>
          </a:p>
          <a:p>
            <a:pPr marL="609600" indent="-609600">
              <a:lnSpc>
                <a:spcPct val="90000"/>
              </a:lnSpc>
              <a:buFont typeface="Times" panose="02020603050405020304" pitchFamily="18" charset="0"/>
              <a:buChar char="•"/>
            </a:pPr>
            <a:r>
              <a:rPr lang="en-US" altLang="en-US" sz="7200" dirty="0">
                <a:solidFill>
                  <a:schemeClr val="tx1"/>
                </a:solidFill>
              </a:rPr>
              <a:t>Make sure you bring papers for all assets and income you may have under your name (bank accounts, vehicles, properties, investments, pension plans, RRSPs, child support, spousal support, etc.)</a:t>
            </a:r>
          </a:p>
          <a:p>
            <a:pPr marL="609600" indent="-609600">
              <a:lnSpc>
                <a:spcPct val="90000"/>
              </a:lnSpc>
              <a:buFont typeface="Times" panose="02020603050405020304" pitchFamily="18" charset="0"/>
              <a:buChar char="•"/>
            </a:pPr>
            <a:r>
              <a:rPr lang="en-US" altLang="en-US" sz="7200" dirty="0">
                <a:solidFill>
                  <a:schemeClr val="tx1"/>
                </a:solidFill>
              </a:rPr>
              <a:t>If you are not able to work due to health reasons, you may wish to provide a medical note (whenever possible) and request a Medical Package to apply for the Disability Status Category under EIA.​</a:t>
            </a:r>
          </a:p>
          <a:p>
            <a:pPr marL="0" indent="0">
              <a:lnSpc>
                <a:spcPct val="90000"/>
              </a:lnSpc>
              <a:buNone/>
            </a:pPr>
            <a:endParaRPr lang="en-US" altLang="en-US" sz="7200" dirty="0">
              <a:solidFill>
                <a:schemeClr val="tx1"/>
              </a:solidFill>
            </a:endParaRPr>
          </a:p>
          <a:p>
            <a:pPr marL="0" indent="0">
              <a:lnSpc>
                <a:spcPct val="90000"/>
              </a:lnSpc>
              <a:buNone/>
            </a:pPr>
            <a:r>
              <a:rPr lang="en-US" altLang="en-US" sz="7200" dirty="0">
                <a:solidFill>
                  <a:schemeClr val="tx1"/>
                </a:solidFill>
              </a:rPr>
              <a:t>   </a:t>
            </a:r>
            <a:r>
              <a:rPr lang="en-US" altLang="en-US" sz="7200" u="sng" dirty="0">
                <a:solidFill>
                  <a:schemeClr val="tx1"/>
                </a:solidFill>
              </a:rPr>
              <a:t>At your intake appointment, you are able to request the following</a:t>
            </a:r>
            <a:r>
              <a:rPr lang="en-US" altLang="en-US" sz="7200" dirty="0">
                <a:solidFill>
                  <a:schemeClr val="tx1"/>
                </a:solidFill>
              </a:rPr>
              <a:t>:</a:t>
            </a:r>
          </a:p>
          <a:p>
            <a:pPr marL="0" indent="0">
              <a:lnSpc>
                <a:spcPct val="90000"/>
              </a:lnSpc>
              <a:buNone/>
            </a:pPr>
            <a:endParaRPr lang="en-US" altLang="en-US" sz="7200" dirty="0">
              <a:solidFill>
                <a:schemeClr val="tx1"/>
              </a:solidFill>
            </a:endParaRPr>
          </a:p>
          <a:p>
            <a:pPr marL="629920" lvl="1" indent="-305435">
              <a:lnSpc>
                <a:spcPct val="90000"/>
              </a:lnSpc>
              <a:buFont typeface="Arial" panose="020B0604020202020204" pitchFamily="34" charset="0"/>
              <a:buChar char="•"/>
            </a:pPr>
            <a:r>
              <a:rPr lang="en-US" altLang="en-US" sz="7200" dirty="0">
                <a:solidFill>
                  <a:schemeClr val="tx1"/>
                </a:solidFill>
              </a:rPr>
              <a:t>Emergency food vouchers</a:t>
            </a:r>
          </a:p>
          <a:p>
            <a:pPr marL="629920" lvl="1" indent="-305435">
              <a:lnSpc>
                <a:spcPct val="90000"/>
              </a:lnSpc>
              <a:buFont typeface="Arial" panose="020B0604020202020204" pitchFamily="34" charset="0"/>
              <a:buChar char="•"/>
            </a:pPr>
            <a:r>
              <a:rPr lang="en-US" altLang="en-US" sz="7200" dirty="0">
                <a:solidFill>
                  <a:schemeClr val="tx1"/>
                </a:solidFill>
              </a:rPr>
              <a:t>Case number to get your medications covered</a:t>
            </a:r>
          </a:p>
          <a:p>
            <a:pPr marL="629920" lvl="1" indent="-305435">
              <a:lnSpc>
                <a:spcPct val="90000"/>
              </a:lnSpc>
              <a:buFont typeface="Arial" panose="020B0604020202020204" pitchFamily="34" charset="0"/>
              <a:buChar char="•"/>
            </a:pPr>
            <a:r>
              <a:rPr lang="en-US" altLang="en-US" sz="7200" dirty="0">
                <a:solidFill>
                  <a:schemeClr val="tx1"/>
                </a:solidFill>
              </a:rPr>
              <a:t>Medical Package: in case you have a medical condition that limits your capability of working enough to support yourself and your dependents</a:t>
            </a:r>
          </a:p>
          <a:p>
            <a:pPr marL="629920" lvl="1" indent="-305435">
              <a:lnSpc>
                <a:spcPct val="90000"/>
              </a:lnSpc>
              <a:buFont typeface="Arial" panose="020B0604020202020204" pitchFamily="34" charset="0"/>
              <a:buChar char="•"/>
            </a:pPr>
            <a:r>
              <a:rPr lang="en-US" sz="7200" dirty="0">
                <a:solidFill>
                  <a:schemeClr val="tx1"/>
                </a:solidFill>
              </a:rPr>
              <a:t>Rent Funds</a:t>
            </a:r>
            <a:r>
              <a:rPr lang="en-CA" i="1" dirty="0">
                <a:solidFill>
                  <a:schemeClr val="tx1"/>
                </a:solidFill>
              </a:rPr>
              <a:t>	</a:t>
            </a:r>
            <a:r>
              <a:rPr lang="en-CA" i="1" dirty="0">
                <a:solidFill>
                  <a:schemeClr val="tx1"/>
                </a:solidFill>
                <a:latin typeface="Century Gothic" panose="020B0502020202020204" pitchFamily="34" charset="0"/>
              </a:rPr>
              <a:t>	</a:t>
            </a:r>
            <a:r>
              <a:rPr lang="en-CA" sz="1100" i="1" dirty="0">
                <a:solidFill>
                  <a:schemeClr val="tx1"/>
                </a:solidFill>
                <a:latin typeface="Century Gothic" panose="020B0502020202020204" pitchFamily="34" charset="0"/>
              </a:rPr>
              <a:t>					</a:t>
            </a:r>
            <a:r>
              <a:rPr lang="en-CA" sz="1100" i="1" dirty="0">
                <a:latin typeface="Century Gothic" panose="020B0502020202020204" pitchFamily="34" charset="0"/>
              </a:rPr>
              <a:t>	</a:t>
            </a:r>
            <a:endParaRPr lang="en-US" sz="1100" i="1" dirty="0">
              <a:latin typeface="Century Gothic" panose="020B0502020202020204" pitchFamily="34" charset="0"/>
            </a:endParaRPr>
          </a:p>
        </p:txBody>
      </p:sp>
      <p:pic>
        <p:nvPicPr>
          <p:cNvPr id="4" name="Picture 3" descr="A close-up of a logo&#10;&#10;Description automatically generated">
            <a:extLst>
              <a:ext uri="{FF2B5EF4-FFF2-40B4-BE49-F238E27FC236}">
                <a16:creationId xmlns:a16="http://schemas.microsoft.com/office/drawing/2014/main" id="{52DE6867-F972-FDE4-4DD3-A591399F0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auto">
          <a:xfrm>
            <a:off x="11258566" y="6024820"/>
            <a:ext cx="555648" cy="683174"/>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3395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1048129" y="5667162"/>
            <a:ext cx="857150" cy="105387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774870" y="335771"/>
            <a:ext cx="8596668" cy="1320800"/>
          </a:xfrm>
        </p:spPr>
        <p:txBody>
          <a:bodyPr>
            <a:normAutofit/>
          </a:bodyPr>
          <a:lstStyle/>
          <a:p>
            <a:r>
              <a:rPr lang="en-US" sz="4800" dirty="0"/>
              <a:t>EIA – Forms</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774870" y="1786407"/>
            <a:ext cx="9927474" cy="4562878"/>
          </a:xfrm>
        </p:spPr>
        <p:txBody>
          <a:bodyPr>
            <a:normAutofit/>
          </a:bodyPr>
          <a:lstStyle/>
          <a:p>
            <a:pPr marL="609600" indent="-609600">
              <a:buFont typeface="Times" panose="02020603050405020304" pitchFamily="18" charset="0"/>
              <a:buChar char="•"/>
            </a:pPr>
            <a:r>
              <a:rPr lang="en-US" altLang="en-US" sz="2400" dirty="0"/>
              <a:t>Rent Form </a:t>
            </a:r>
          </a:p>
          <a:p>
            <a:pPr marL="609600" indent="-609600">
              <a:buFont typeface="Times" panose="02020603050405020304" pitchFamily="18" charset="0"/>
              <a:buChar char="•"/>
            </a:pPr>
            <a:r>
              <a:rPr lang="en-US" altLang="en-US" sz="2400" dirty="0"/>
              <a:t>Direct Deposit form</a:t>
            </a:r>
          </a:p>
          <a:p>
            <a:pPr marL="609600" indent="-609600">
              <a:buFont typeface="Times" panose="02020603050405020304" pitchFamily="18" charset="0"/>
              <a:buChar char="•"/>
            </a:pPr>
            <a:r>
              <a:rPr lang="en-US" altLang="en-US" sz="2400" dirty="0"/>
              <a:t>Income Declaration Form</a:t>
            </a:r>
          </a:p>
          <a:p>
            <a:pPr marL="609600" indent="-609600">
              <a:buFont typeface="Times" panose="02020603050405020304" pitchFamily="18" charset="0"/>
              <a:buChar char="•"/>
            </a:pPr>
            <a:r>
              <a:rPr lang="en-US" altLang="en-US" sz="2400" dirty="0"/>
              <a:t>Relationship Assessment Form (for people living in shared accommodations)</a:t>
            </a:r>
          </a:p>
          <a:p>
            <a:pPr marL="609600" indent="-609600">
              <a:buFont typeface="Times" panose="02020603050405020304" pitchFamily="18" charset="0"/>
              <a:buChar char="•"/>
            </a:pPr>
            <a:r>
              <a:rPr lang="en-US" altLang="en-US" sz="2400" dirty="0"/>
              <a:t>Therapeutic Diet Form</a:t>
            </a:r>
          </a:p>
          <a:p>
            <a:pPr marL="609600" indent="-609600">
              <a:buFont typeface="Times" panose="02020603050405020304" pitchFamily="18" charset="0"/>
              <a:buChar char="•"/>
            </a:pPr>
            <a:r>
              <a:rPr lang="en-US" altLang="en-US" sz="2400" dirty="0"/>
              <a:t>Medical Supply Request Form</a:t>
            </a:r>
          </a:p>
          <a:p>
            <a:pPr marL="609600" indent="-609600">
              <a:buFont typeface="Times" panose="02020603050405020304" pitchFamily="18" charset="0"/>
              <a:buChar char="•"/>
            </a:pPr>
            <a:r>
              <a:rPr lang="en-US" altLang="en-US" sz="2400" dirty="0"/>
              <a:t>Medical Equipment Request Form</a:t>
            </a:r>
            <a:r>
              <a:rPr lang="en-CA" i="1" dirty="0">
                <a:latin typeface="Century Gothic" panose="020B0502020202020204" pitchFamily="34" charset="0"/>
              </a:rPr>
              <a:t>		</a:t>
            </a:r>
            <a:endParaRPr lang="en-US" i="1" dirty="0">
              <a:latin typeface="Century Gothic" panose="020B0502020202020204" pitchFamily="34" charset="0"/>
            </a:endParaRPr>
          </a:p>
        </p:txBody>
      </p:sp>
    </p:spTree>
    <p:extLst>
      <p:ext uri="{BB962C8B-B14F-4D97-AF65-F5344CB8AC3E}">
        <p14:creationId xmlns:p14="http://schemas.microsoft.com/office/powerpoint/2010/main" val="1624043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9BAB-1EA1-7559-D1DD-196DF954F6CE}"/>
              </a:ext>
            </a:extLst>
          </p:cNvPr>
          <p:cNvSpPr>
            <a:spLocks noGrp="1"/>
          </p:cNvSpPr>
          <p:nvPr>
            <p:ph type="title"/>
          </p:nvPr>
        </p:nvSpPr>
        <p:spPr/>
        <p:txBody>
          <a:bodyPr/>
          <a:lstStyle/>
          <a:p>
            <a:r>
              <a:rPr lang="en-US" dirty="0"/>
              <a:t>After Intake</a:t>
            </a:r>
          </a:p>
        </p:txBody>
      </p:sp>
      <p:sp>
        <p:nvSpPr>
          <p:cNvPr id="3" name="Content Placeholder 2">
            <a:extLst>
              <a:ext uri="{FF2B5EF4-FFF2-40B4-BE49-F238E27FC236}">
                <a16:creationId xmlns:a16="http://schemas.microsoft.com/office/drawing/2014/main" id="{76AEF959-749F-395C-AB4A-2AAA8996D186}"/>
              </a:ext>
            </a:extLst>
          </p:cNvPr>
          <p:cNvSpPr>
            <a:spLocks noGrp="1"/>
          </p:cNvSpPr>
          <p:nvPr>
            <p:ph idx="1"/>
          </p:nvPr>
        </p:nvSpPr>
        <p:spPr>
          <a:xfrm>
            <a:off x="838200" y="1825625"/>
            <a:ext cx="10515600" cy="3763806"/>
          </a:xfrm>
        </p:spPr>
        <p:txBody>
          <a:bodyPr>
            <a:normAutofit/>
          </a:bodyPr>
          <a:lstStyle/>
          <a:p>
            <a:pPr>
              <a:lnSpc>
                <a:spcPct val="100000"/>
              </a:lnSpc>
            </a:pPr>
            <a:r>
              <a:rPr lang="en-US" sz="2400" dirty="0"/>
              <a:t>Never drop off any documents at the 111 Rorie office. They get lost all the time, instead you can email your documents directly to the Intake Specialist or upload them on the EIA portal</a:t>
            </a:r>
          </a:p>
          <a:p>
            <a:pPr lvl="1">
              <a:lnSpc>
                <a:spcPct val="100000"/>
              </a:lnSpc>
            </a:pPr>
            <a:r>
              <a:rPr lang="en-US" sz="2100" dirty="0"/>
              <a:t>Submit documents online: </a:t>
            </a:r>
            <a:r>
              <a:rPr lang="en-US" sz="2100" u="sng" dirty="0">
                <a:hlinkClick r:id="rId2"/>
              </a:rPr>
              <a:t>https://www.gov.mb.ca/fs/contacting-eia.html</a:t>
            </a:r>
            <a:r>
              <a:rPr lang="en-US" sz="2100" dirty="0"/>
              <a:t>​</a:t>
            </a:r>
          </a:p>
          <a:p>
            <a:pPr>
              <a:lnSpc>
                <a:spcPct val="100000"/>
              </a:lnSpc>
            </a:pPr>
            <a:r>
              <a:rPr lang="en-US" sz="2400" dirty="0"/>
              <a:t>In doubt about your assets or income? </a:t>
            </a:r>
          </a:p>
          <a:p>
            <a:pPr lvl="1">
              <a:lnSpc>
                <a:spcPct val="100000"/>
              </a:lnSpc>
            </a:pPr>
            <a:r>
              <a:rPr lang="en-US" sz="2000" dirty="0"/>
              <a:t>Just declare them and let the EIA Department sort through all the documentation regardless. EIA will determine what counts towards assets and what does not. ​</a:t>
            </a:r>
          </a:p>
          <a:p>
            <a:endParaRPr lang="en-US" dirty="0"/>
          </a:p>
        </p:txBody>
      </p:sp>
    </p:spTree>
    <p:extLst>
      <p:ext uri="{BB962C8B-B14F-4D97-AF65-F5344CB8AC3E}">
        <p14:creationId xmlns:p14="http://schemas.microsoft.com/office/powerpoint/2010/main" val="1845907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591EA-FE66-300C-C9F8-A18EC79687A9}"/>
              </a:ext>
            </a:extLst>
          </p:cNvPr>
          <p:cNvSpPr>
            <a:spLocks noGrp="1"/>
          </p:cNvSpPr>
          <p:nvPr>
            <p:ph type="title"/>
          </p:nvPr>
        </p:nvSpPr>
        <p:spPr/>
        <p:txBody>
          <a:bodyPr/>
          <a:lstStyle/>
          <a:p>
            <a:r>
              <a:rPr lang="en-US" dirty="0"/>
              <a:t>EIA Streams</a:t>
            </a:r>
          </a:p>
        </p:txBody>
      </p:sp>
      <p:sp>
        <p:nvSpPr>
          <p:cNvPr id="3" name="Content Placeholder 2">
            <a:extLst>
              <a:ext uri="{FF2B5EF4-FFF2-40B4-BE49-F238E27FC236}">
                <a16:creationId xmlns:a16="http://schemas.microsoft.com/office/drawing/2014/main" id="{56C10307-4821-ECED-4D66-8C73CA7214DE}"/>
              </a:ext>
            </a:extLst>
          </p:cNvPr>
          <p:cNvSpPr>
            <a:spLocks noGrp="1"/>
          </p:cNvSpPr>
          <p:nvPr>
            <p:ph idx="1"/>
          </p:nvPr>
        </p:nvSpPr>
        <p:spPr/>
        <p:txBody>
          <a:bodyPr/>
          <a:lstStyle/>
          <a:p>
            <a:r>
              <a:rPr lang="en-US" dirty="0"/>
              <a:t>EIA General </a:t>
            </a:r>
          </a:p>
          <a:p>
            <a:r>
              <a:rPr lang="en-US" dirty="0"/>
              <a:t>EIA Disability Categories</a:t>
            </a:r>
          </a:p>
          <a:p>
            <a:pPr lvl="1"/>
            <a:r>
              <a:rPr lang="en-US" dirty="0"/>
              <a:t>Medical Barriers to Full Employment (MBTE)</a:t>
            </a:r>
          </a:p>
          <a:p>
            <a:pPr lvl="1"/>
            <a:r>
              <a:rPr lang="en-US" dirty="0"/>
              <a:t>MB Supports</a:t>
            </a:r>
          </a:p>
        </p:txBody>
      </p:sp>
    </p:spTree>
    <p:extLst>
      <p:ext uri="{BB962C8B-B14F-4D97-AF65-F5344CB8AC3E}">
        <p14:creationId xmlns:p14="http://schemas.microsoft.com/office/powerpoint/2010/main" val="3478910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07B44-8958-D64F-7656-A3491CDC5B3F}"/>
              </a:ext>
            </a:extLst>
          </p:cNvPr>
          <p:cNvSpPr>
            <a:spLocks noGrp="1"/>
          </p:cNvSpPr>
          <p:nvPr>
            <p:ph type="title"/>
          </p:nvPr>
        </p:nvSpPr>
        <p:spPr/>
        <p:txBody>
          <a:bodyPr/>
          <a:lstStyle/>
          <a:p>
            <a:r>
              <a:rPr lang="en-US" dirty="0"/>
              <a:t>EIA General Assistance</a:t>
            </a:r>
          </a:p>
        </p:txBody>
      </p:sp>
      <p:sp>
        <p:nvSpPr>
          <p:cNvPr id="3" name="Content Placeholder 2">
            <a:extLst>
              <a:ext uri="{FF2B5EF4-FFF2-40B4-BE49-F238E27FC236}">
                <a16:creationId xmlns:a16="http://schemas.microsoft.com/office/drawing/2014/main" id="{D09B3A5C-0C87-65CB-6309-AEE56404B717}"/>
              </a:ext>
            </a:extLst>
          </p:cNvPr>
          <p:cNvSpPr>
            <a:spLocks noGrp="1"/>
          </p:cNvSpPr>
          <p:nvPr>
            <p:ph idx="1"/>
          </p:nvPr>
        </p:nvSpPr>
        <p:spPr/>
        <p:txBody>
          <a:bodyPr/>
          <a:lstStyle/>
          <a:p>
            <a:r>
              <a:rPr lang="en-CA" sz="2000" dirty="0"/>
              <a:t>You live in Manitoba and are 18 and 65 years of age.</a:t>
            </a:r>
          </a:p>
          <a:p>
            <a:r>
              <a:rPr lang="en-CA" sz="2000" dirty="0"/>
              <a:t>You do not have a disability (or are waiting for your Disability Status approval) and are a: </a:t>
            </a:r>
          </a:p>
          <a:p>
            <a:pPr lvl="1"/>
            <a:r>
              <a:rPr lang="en-CA" sz="2000" dirty="0"/>
              <a:t>single person without dependents/children</a:t>
            </a:r>
          </a:p>
          <a:p>
            <a:pPr lvl="1"/>
            <a:r>
              <a:rPr lang="en-CA" sz="2000" dirty="0"/>
              <a:t>couple without dependents/children</a:t>
            </a:r>
          </a:p>
          <a:p>
            <a:pPr lvl="1"/>
            <a:r>
              <a:rPr lang="en-CA" sz="2000" dirty="0"/>
              <a:t>two parent family</a:t>
            </a:r>
          </a:p>
          <a:p>
            <a:r>
              <a:rPr lang="en-CA" sz="2000" dirty="0"/>
              <a:t>You are in financial need.</a:t>
            </a:r>
          </a:p>
          <a:p>
            <a:endParaRPr lang="en-US" dirty="0"/>
          </a:p>
        </p:txBody>
      </p:sp>
    </p:spTree>
    <p:extLst>
      <p:ext uri="{BB962C8B-B14F-4D97-AF65-F5344CB8AC3E}">
        <p14:creationId xmlns:p14="http://schemas.microsoft.com/office/powerpoint/2010/main" val="1430280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1079660" y="5667162"/>
            <a:ext cx="857150" cy="105387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774869" y="335771"/>
            <a:ext cx="10750589" cy="1320800"/>
          </a:xfrm>
        </p:spPr>
        <p:txBody>
          <a:bodyPr>
            <a:normAutofit/>
          </a:bodyPr>
          <a:lstStyle/>
          <a:p>
            <a:r>
              <a:rPr lang="en-US" sz="4800" dirty="0"/>
              <a:t>EIA General Assistance</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924194" y="1483461"/>
            <a:ext cx="10451938" cy="3078492"/>
          </a:xfrm>
        </p:spPr>
        <p:txBody>
          <a:bodyPr>
            <a:normAutofit fontScale="25000" lnSpcReduction="20000"/>
          </a:bodyPr>
          <a:lstStyle/>
          <a:p>
            <a:pPr marL="609600" indent="-609600">
              <a:lnSpc>
                <a:spcPct val="120000"/>
              </a:lnSpc>
              <a:buFont typeface="Times" panose="02020603050405020304" pitchFamily="18" charset="0"/>
              <a:buChar char="•"/>
            </a:pPr>
            <a:endParaRPr lang="en-US" altLang="en-US" sz="8000" dirty="0">
              <a:latin typeface="Century Gothic" panose="020B0502020202020204" pitchFamily="34" charset="0"/>
            </a:endParaRPr>
          </a:p>
          <a:p>
            <a:pPr marL="609600" indent="-609600">
              <a:lnSpc>
                <a:spcPct val="120000"/>
              </a:lnSpc>
              <a:buFont typeface="Times" panose="02020603050405020304" pitchFamily="18" charset="0"/>
              <a:buChar char="•"/>
            </a:pPr>
            <a:r>
              <a:rPr lang="en-US" altLang="en-US" sz="8000" dirty="0"/>
              <a:t>Basic needs: $195</a:t>
            </a:r>
          </a:p>
          <a:p>
            <a:pPr marL="609600" indent="-609600">
              <a:lnSpc>
                <a:spcPct val="120000"/>
              </a:lnSpc>
              <a:buFont typeface="Times" panose="02020603050405020304" pitchFamily="18" charset="0"/>
              <a:buChar char="•"/>
            </a:pPr>
            <a:r>
              <a:rPr lang="en-US" altLang="en-US" sz="8000" dirty="0"/>
              <a:t>Miscellaneous needs: $25 (replacement of ”job seekers allowance)</a:t>
            </a:r>
          </a:p>
          <a:p>
            <a:pPr marL="609600" indent="-609600">
              <a:lnSpc>
                <a:spcPct val="120000"/>
              </a:lnSpc>
              <a:buFont typeface="Times" panose="02020603050405020304" pitchFamily="18" charset="0"/>
              <a:buChar char="•"/>
            </a:pPr>
            <a:r>
              <a:rPr lang="en-US" altLang="en-US" sz="8000" dirty="0"/>
              <a:t>Health phone allowance: $32.44 (with a simple prescription)</a:t>
            </a:r>
          </a:p>
          <a:p>
            <a:pPr marL="609600" indent="-609600">
              <a:lnSpc>
                <a:spcPct val="120000"/>
              </a:lnSpc>
              <a:buFont typeface="Times" panose="02020603050405020304" pitchFamily="18" charset="0"/>
              <a:buChar char="•"/>
            </a:pPr>
            <a:r>
              <a:rPr lang="en-US" altLang="en-US" sz="8000" dirty="0"/>
              <a:t>Health transportation to medical appointments: by providing confirmation of appointment in advance, participants can get  bus/cab fares as applicable.</a:t>
            </a:r>
          </a:p>
          <a:p>
            <a:pPr marL="609600" indent="-609600">
              <a:lnSpc>
                <a:spcPct val="120000"/>
              </a:lnSpc>
              <a:buFont typeface="Times" panose="02020603050405020304" pitchFamily="18" charset="0"/>
              <a:buChar char="•"/>
            </a:pPr>
            <a:r>
              <a:rPr lang="en-US" altLang="en-US" sz="8000" dirty="0"/>
              <a:t>Therapeutic Diet allowances/Supplements for chronic conditions</a:t>
            </a:r>
          </a:p>
          <a:p>
            <a:pPr marL="609600" indent="-609600">
              <a:lnSpc>
                <a:spcPct val="120000"/>
              </a:lnSpc>
              <a:buFont typeface="Times" panose="02020603050405020304" pitchFamily="18" charset="0"/>
              <a:buChar char="•"/>
            </a:pPr>
            <a:endParaRPr lang="en-US" altLang="en-US" sz="9800" dirty="0">
              <a:solidFill>
                <a:schemeClr val="accent4">
                  <a:lumMod val="75000"/>
                </a:schemeClr>
              </a:solidFill>
              <a:latin typeface="Century Gothic" panose="020B0502020202020204" pitchFamily="34" charset="0"/>
            </a:endParaRPr>
          </a:p>
          <a:p>
            <a:pPr marL="0" indent="0">
              <a:lnSpc>
                <a:spcPct val="120000"/>
              </a:lnSpc>
              <a:buNone/>
            </a:pPr>
            <a:endParaRPr lang="en-US" altLang="en-US" sz="5600" dirty="0">
              <a:solidFill>
                <a:schemeClr val="accent4">
                  <a:lumMod val="75000"/>
                </a:schemeClr>
              </a:solidFill>
              <a:latin typeface="Century Gothic" panose="020B0502020202020204" pitchFamily="34" charset="0"/>
            </a:endParaRPr>
          </a:p>
          <a:p>
            <a:pPr marL="609600" indent="-609600">
              <a:lnSpc>
                <a:spcPct val="120000"/>
              </a:lnSpc>
              <a:buFont typeface="Times" panose="02020603050405020304" pitchFamily="18" charset="0"/>
              <a:buChar char="•"/>
            </a:pPr>
            <a:endParaRPr lang="en-US" altLang="en-US" sz="5600" dirty="0">
              <a:solidFill>
                <a:schemeClr val="accent4">
                  <a:lumMod val="75000"/>
                </a:schemeClr>
              </a:solidFill>
              <a:latin typeface="Century Gothic" panose="020B0502020202020204" pitchFamily="34" charset="0"/>
            </a:endParaRPr>
          </a:p>
          <a:p>
            <a:pPr marL="609600" indent="-609600">
              <a:lnSpc>
                <a:spcPct val="120000"/>
              </a:lnSpc>
              <a:buFont typeface="Times" panose="02020603050405020304" pitchFamily="18" charset="0"/>
              <a:buChar char="•"/>
            </a:pPr>
            <a:endParaRPr lang="en-US" altLang="en-US" sz="5600" dirty="0">
              <a:solidFill>
                <a:schemeClr val="accent4">
                  <a:lumMod val="75000"/>
                </a:schemeClr>
              </a:solidFill>
              <a:latin typeface="Century Gothic" panose="020B0502020202020204" pitchFamily="34" charset="0"/>
            </a:endParaRPr>
          </a:p>
          <a:p>
            <a:pPr marL="609600" indent="-609600">
              <a:lnSpc>
                <a:spcPct val="120000"/>
              </a:lnSpc>
              <a:buFont typeface="Times" panose="02020603050405020304" pitchFamily="18" charset="0"/>
              <a:buChar char="•"/>
            </a:pPr>
            <a:endParaRPr lang="en-US" altLang="en-US" sz="5600" dirty="0">
              <a:solidFill>
                <a:schemeClr val="accent4">
                  <a:lumMod val="75000"/>
                </a:schemeClr>
              </a:solidFill>
              <a:latin typeface="Century Gothic" panose="020B0502020202020204" pitchFamily="34" charset="0"/>
            </a:endParaRPr>
          </a:p>
          <a:p>
            <a:pPr marL="609600" indent="-609600">
              <a:buFont typeface="Times" panose="02020603050405020304" pitchFamily="18" charset="0"/>
              <a:buChar char="•"/>
            </a:pPr>
            <a:endParaRPr lang="en-US" altLang="en-US" sz="3200" dirty="0">
              <a:latin typeface="Century Gothic" panose="020B0502020202020204" pitchFamily="34" charset="0"/>
            </a:endParaRPr>
          </a:p>
          <a:p>
            <a:pPr marL="609600" indent="-609600">
              <a:buFont typeface="Times" panose="02020603050405020304" pitchFamily="18" charset="0"/>
              <a:buChar char="•"/>
            </a:pPr>
            <a:endParaRPr lang="en-US" altLang="en-US" sz="2900" dirty="0">
              <a:latin typeface="Century Gothic" panose="020B0502020202020204" pitchFamily="34" charset="0"/>
            </a:endParaRPr>
          </a:p>
          <a:p>
            <a:pPr marL="0" indent="0">
              <a:buNone/>
            </a:pPr>
            <a:endParaRPr lang="en-US" altLang="en-US" sz="3200" dirty="0">
              <a:latin typeface="Century Gothic" panose="020B0502020202020204" pitchFamily="34" charset="0"/>
            </a:endParaRPr>
          </a:p>
          <a:p>
            <a:pPr marL="1671400" lvl="5" indent="0">
              <a:buNone/>
            </a:pPr>
            <a:r>
              <a:rPr lang="en-CA" i="1" dirty="0">
                <a:latin typeface="Century Gothic" panose="020B0502020202020204" pitchFamily="34" charset="0"/>
              </a:rPr>
              <a:t>								</a:t>
            </a:r>
            <a:endParaRPr lang="en-US" i="1" dirty="0">
              <a:latin typeface="Century Gothic" panose="020B0502020202020204" pitchFamily="34" charset="0"/>
            </a:endParaRPr>
          </a:p>
        </p:txBody>
      </p:sp>
    </p:spTree>
    <p:extLst>
      <p:ext uri="{BB962C8B-B14F-4D97-AF65-F5344CB8AC3E}">
        <p14:creationId xmlns:p14="http://schemas.microsoft.com/office/powerpoint/2010/main" val="291881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503620" y="745958"/>
            <a:ext cx="10880242" cy="806440"/>
          </a:xfrm>
        </p:spPr>
        <p:txBody>
          <a:bodyPr anchor="ctr">
            <a:noAutofit/>
          </a:bodyPr>
          <a:lstStyle/>
          <a:p>
            <a:r>
              <a:rPr lang="en-US" dirty="0"/>
              <a:t>EIA – GENERAL ASSISTANCE  - Work expectations</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709416" y="2244883"/>
            <a:ext cx="11129658" cy="3867159"/>
          </a:xfrm>
        </p:spPr>
        <p:txBody>
          <a:bodyPr anchor="t">
            <a:noAutofit/>
          </a:bodyPr>
          <a:lstStyle/>
          <a:p>
            <a:r>
              <a:rPr lang="en-CA" sz="2000" dirty="0">
                <a:solidFill>
                  <a:schemeClr val="tx1"/>
                </a:solidFill>
              </a:rPr>
              <a:t>Between the ages of 18 and 55, having work expectations means that you are considered employable and need to be looking for any kind of work.</a:t>
            </a:r>
          </a:p>
          <a:p>
            <a:r>
              <a:rPr lang="en-CA" sz="2000" dirty="0">
                <a:solidFill>
                  <a:schemeClr val="tx1"/>
                </a:solidFill>
              </a:rPr>
              <a:t>You have to comply with any Work Readiness program that EIA refers them to: OFE (Opportunities for Employment, Wpg Transition Centre, Jobs on Market, etc.)</a:t>
            </a:r>
          </a:p>
          <a:p>
            <a:r>
              <a:rPr lang="en-CA" sz="2000" dirty="0">
                <a:solidFill>
                  <a:schemeClr val="tx1"/>
                </a:solidFill>
              </a:rPr>
              <a:t>Able to attend training programs through MB Jobs and Skills Development, Adult Education upgrading (Grade 12)</a:t>
            </a:r>
          </a:p>
          <a:p>
            <a:r>
              <a:rPr lang="en-CA" sz="2000" dirty="0">
                <a:solidFill>
                  <a:schemeClr val="tx1"/>
                </a:solidFill>
              </a:rPr>
              <a:t>If you get approved for such programs, you can get full transportation coverage.</a:t>
            </a:r>
          </a:p>
          <a:p>
            <a:r>
              <a:rPr lang="en-CA" sz="2000" dirty="0">
                <a:solidFill>
                  <a:schemeClr val="tx1"/>
                </a:solidFill>
              </a:rPr>
              <a:t>Work Readiness program attendance is mandatory.</a:t>
            </a:r>
          </a:p>
          <a:p>
            <a:endParaRPr lang="en-CA" sz="1600" dirty="0">
              <a:solidFill>
                <a:schemeClr val="tx1"/>
              </a:solidFill>
              <a:latin typeface="Century Gothic" panose="020B0502020202020204" pitchFamily="34" charset="0"/>
            </a:endParaRPr>
          </a:p>
          <a:p>
            <a:pPr marL="0" indent="0">
              <a:buNone/>
            </a:pPr>
            <a:endParaRPr lang="en-CA" sz="2000" dirty="0">
              <a:solidFill>
                <a:schemeClr val="tx1"/>
              </a:solidFill>
              <a:latin typeface="Century Gothic" panose="020B0502020202020204" pitchFamily="34" charset="0"/>
            </a:endParaRPr>
          </a:p>
          <a:p>
            <a:pPr marL="0" indent="0">
              <a:buNone/>
            </a:pPr>
            <a:endParaRPr lang="en-CA" dirty="0">
              <a:solidFill>
                <a:schemeClr val="tx1"/>
              </a:solidFill>
              <a:latin typeface="Century Gothic" panose="020B0502020202020204" pitchFamily="34" charset="0"/>
            </a:endParaRPr>
          </a:p>
        </p:txBody>
      </p:sp>
      <p:pic>
        <p:nvPicPr>
          <p:cNvPr id="2" name="Picture 1" descr="A close-up of a logo&#10;&#10;Description automatically generated">
            <a:extLst>
              <a:ext uri="{FF2B5EF4-FFF2-40B4-BE49-F238E27FC236}">
                <a16:creationId xmlns:a16="http://schemas.microsoft.com/office/drawing/2014/main" id="{8F5F9CA0-090E-0DE0-98F3-61FFDB3117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130341" y="5842104"/>
            <a:ext cx="704485" cy="866170"/>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566523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581192" y="702156"/>
            <a:ext cx="11029616" cy="1013800"/>
          </a:xfrm>
        </p:spPr>
        <p:txBody>
          <a:bodyPr anchor="ctr">
            <a:normAutofit/>
          </a:bodyPr>
          <a:lstStyle/>
          <a:p>
            <a:r>
              <a:rPr lang="en-CA" dirty="0"/>
              <a:t>Employment Expectations do not apply to:</a:t>
            </a:r>
            <a:endParaRPr lang="en-US" dirty="0"/>
          </a:p>
        </p:txBody>
      </p:sp>
      <p:sp>
        <p:nvSpPr>
          <p:cNvPr id="2" name="TextBox 1">
            <a:extLst>
              <a:ext uri="{FF2B5EF4-FFF2-40B4-BE49-F238E27FC236}">
                <a16:creationId xmlns:a16="http://schemas.microsoft.com/office/drawing/2014/main" id="{C13D8A4A-A614-AA42-8366-E84AB27CD115}"/>
              </a:ext>
            </a:extLst>
          </p:cNvPr>
          <p:cNvSpPr txBox="1"/>
          <p:nvPr/>
        </p:nvSpPr>
        <p:spPr>
          <a:xfrm>
            <a:off x="7234518" y="1196788"/>
            <a:ext cx="184731" cy="369332"/>
          </a:xfrm>
          <a:prstGeom prst="rect">
            <a:avLst/>
          </a:prstGeom>
          <a:noFill/>
        </p:spPr>
        <p:txBody>
          <a:bodyPr wrap="none" rtlCol="0">
            <a:spAutoFit/>
          </a:bodyPr>
          <a:lstStyle/>
          <a:p>
            <a:endParaRPr lang="en-US"/>
          </a:p>
        </p:txBody>
      </p:sp>
      <p:pic>
        <p:nvPicPr>
          <p:cNvPr id="4" name="Picture 3" descr="A close-up of a logo&#10;&#10;Description automatically generated">
            <a:extLst>
              <a:ext uri="{FF2B5EF4-FFF2-40B4-BE49-F238E27FC236}">
                <a16:creationId xmlns:a16="http://schemas.microsoft.com/office/drawing/2014/main" id="{3D35B0E9-2BFB-79D3-B09D-2F9B3A387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258565" y="5841824"/>
            <a:ext cx="704485" cy="866170"/>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10" name="Content Placeholder 2">
            <a:extLst>
              <a:ext uri="{FF2B5EF4-FFF2-40B4-BE49-F238E27FC236}">
                <a16:creationId xmlns:a16="http://schemas.microsoft.com/office/drawing/2014/main" id="{EFA92837-B05C-0738-7A67-2CD2ADFAABAC}"/>
              </a:ext>
            </a:extLst>
          </p:cNvPr>
          <p:cNvGraphicFramePr>
            <a:graphicFrameLocks noGrp="1"/>
          </p:cNvGraphicFramePr>
          <p:nvPr>
            <p:ph idx="1"/>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593878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863743" y="5611261"/>
            <a:ext cx="845064" cy="103901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549111" y="777344"/>
            <a:ext cx="10314632" cy="838887"/>
          </a:xfrm>
        </p:spPr>
        <p:txBody>
          <a:bodyPr anchor="ctr">
            <a:normAutofit/>
          </a:bodyPr>
          <a:lstStyle/>
          <a:p>
            <a:r>
              <a:rPr lang="en-US" dirty="0"/>
              <a:t>EIA – WORK INCENTIVE PROGRAM</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745811" y="2035676"/>
            <a:ext cx="10700378" cy="3883861"/>
          </a:xfrm>
        </p:spPr>
        <p:txBody>
          <a:bodyPr anchor="t">
            <a:noAutofit/>
          </a:bodyPr>
          <a:lstStyle/>
          <a:p>
            <a:r>
              <a:rPr lang="en-CA" sz="2000" dirty="0">
                <a:solidFill>
                  <a:schemeClr val="tx1"/>
                </a:solidFill>
              </a:rPr>
              <a:t>Myth: “If you work you get cut off from EIA”</a:t>
            </a:r>
          </a:p>
          <a:p>
            <a:r>
              <a:rPr lang="en-CA" sz="2000" dirty="0">
                <a:solidFill>
                  <a:schemeClr val="tx1"/>
                </a:solidFill>
              </a:rPr>
              <a:t>You are allowed to earn $200 of net work earnings and still get their full EIA benefits. </a:t>
            </a:r>
          </a:p>
          <a:p>
            <a:r>
              <a:rPr lang="en-CA" sz="2000" dirty="0">
                <a:solidFill>
                  <a:schemeClr val="tx1"/>
                </a:solidFill>
              </a:rPr>
              <a:t>You will also be able to keep 30% of whatever you make over those $200 and EIA will deduct the remaining 70% from their budget.</a:t>
            </a:r>
          </a:p>
          <a:p>
            <a:r>
              <a:rPr lang="en-CA" sz="2000" dirty="0">
                <a:solidFill>
                  <a:schemeClr val="tx1"/>
                </a:solidFill>
              </a:rPr>
              <a:t>Once you get a job offer, you need to send it to their Case Counsellor as soon as possible in order to get the following add-ons to their budget:</a:t>
            </a:r>
          </a:p>
          <a:p>
            <a:pPr lvl="1"/>
            <a:r>
              <a:rPr lang="en-CA" sz="1800" dirty="0">
                <a:solidFill>
                  <a:schemeClr val="tx1"/>
                </a:solidFill>
              </a:rPr>
              <a:t>Full rent for the first month </a:t>
            </a:r>
          </a:p>
          <a:p>
            <a:pPr lvl="1"/>
            <a:r>
              <a:rPr lang="en-CA" sz="1800" dirty="0">
                <a:solidFill>
                  <a:schemeClr val="tx1"/>
                </a:solidFill>
              </a:rPr>
              <a:t>Full bus pass </a:t>
            </a:r>
          </a:p>
          <a:p>
            <a:pPr lvl="1"/>
            <a:r>
              <a:rPr lang="en-CA" sz="1800" dirty="0">
                <a:solidFill>
                  <a:schemeClr val="tx1"/>
                </a:solidFill>
              </a:rPr>
              <a:t>Work clothes allowance as needed.</a:t>
            </a:r>
            <a:endParaRPr lang="en-CA" sz="2000" dirty="0">
              <a:solidFill>
                <a:schemeClr val="tx1"/>
              </a:solidFill>
              <a:latin typeface="Century Gothic" panose="020B0502020202020204" pitchFamily="34" charset="0"/>
            </a:endParaRPr>
          </a:p>
        </p:txBody>
      </p:sp>
      <p:sp>
        <p:nvSpPr>
          <p:cNvPr id="2" name="TextBox 1">
            <a:extLst>
              <a:ext uri="{FF2B5EF4-FFF2-40B4-BE49-F238E27FC236}">
                <a16:creationId xmlns:a16="http://schemas.microsoft.com/office/drawing/2014/main" id="{C13D8A4A-A614-AA42-8366-E84AB27CD115}"/>
              </a:ext>
            </a:extLst>
          </p:cNvPr>
          <p:cNvSpPr txBox="1"/>
          <p:nvPr/>
        </p:nvSpPr>
        <p:spPr>
          <a:xfrm>
            <a:off x="7234518" y="119678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8461661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110315" y="56562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619232" y="850232"/>
            <a:ext cx="9867008" cy="702166"/>
          </a:xfrm>
        </p:spPr>
        <p:txBody>
          <a:bodyPr anchor="ctr">
            <a:normAutofit/>
          </a:bodyPr>
          <a:lstStyle/>
          <a:p>
            <a:r>
              <a:rPr lang="en-US" dirty="0"/>
              <a:t>EIA – General assistance Money exempt</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619232" y="2251792"/>
            <a:ext cx="10491083" cy="3931358"/>
          </a:xfrm>
        </p:spPr>
        <p:txBody>
          <a:bodyPr anchor="t">
            <a:noAutofit/>
          </a:bodyPr>
          <a:lstStyle/>
          <a:p>
            <a:r>
              <a:rPr lang="en-CA" sz="2000" dirty="0">
                <a:solidFill>
                  <a:schemeClr val="tx1"/>
                </a:solidFill>
              </a:rPr>
              <a:t>$100 occasional gift from family and/or friends (not ex spouses or current spouses)</a:t>
            </a:r>
          </a:p>
          <a:p>
            <a:r>
              <a:rPr lang="en-CA" sz="2000" dirty="0">
                <a:solidFill>
                  <a:schemeClr val="tx1"/>
                </a:solidFill>
              </a:rPr>
              <a:t>Up to $4,000 in liquid assets per household member up to $16,000 </a:t>
            </a:r>
          </a:p>
          <a:p>
            <a:r>
              <a:rPr lang="en-CA" sz="2000" dirty="0">
                <a:solidFill>
                  <a:schemeClr val="tx1"/>
                </a:solidFill>
              </a:rPr>
              <a:t>Child Care Benefits</a:t>
            </a:r>
          </a:p>
          <a:p>
            <a:r>
              <a:rPr lang="en-CA" sz="2000" dirty="0">
                <a:solidFill>
                  <a:schemeClr val="tx1"/>
                </a:solidFill>
              </a:rPr>
              <a:t>GST Credits</a:t>
            </a:r>
          </a:p>
          <a:p>
            <a:r>
              <a:rPr lang="en-CA" sz="2000" dirty="0">
                <a:solidFill>
                  <a:schemeClr val="tx1"/>
                </a:solidFill>
              </a:rPr>
              <a:t>Income Tax Returns</a:t>
            </a:r>
          </a:p>
          <a:p>
            <a:r>
              <a:rPr lang="en-CA" sz="2000" dirty="0">
                <a:solidFill>
                  <a:schemeClr val="tx1"/>
                </a:solidFill>
              </a:rPr>
              <a:t>Money Settlements as a result of Courts Decisions in most of cases related to Indigenous issues (</a:t>
            </a:r>
            <a:r>
              <a:rPr lang="en-CA" sz="2000" dirty="0" err="1">
                <a:solidFill>
                  <a:schemeClr val="tx1"/>
                </a:solidFill>
              </a:rPr>
              <a:t>e.i.</a:t>
            </a:r>
            <a:r>
              <a:rPr lang="en-CA" sz="2000" dirty="0">
                <a:solidFill>
                  <a:schemeClr val="tx1"/>
                </a:solidFill>
              </a:rPr>
              <a:t> Sixty’s Scoop, Residential Schools Survivors, Cows &amp; Plows etc.)</a:t>
            </a:r>
          </a:p>
          <a:p>
            <a:r>
              <a:rPr lang="en-CA" sz="2000" dirty="0">
                <a:solidFill>
                  <a:schemeClr val="tx1"/>
                </a:solidFill>
              </a:rPr>
              <a:t>Canada Student Grants, etc.</a:t>
            </a:r>
            <a:endParaRPr lang="en-CA" dirty="0">
              <a:solidFill>
                <a:schemeClr val="tx1"/>
              </a:solidFill>
            </a:endParaRPr>
          </a:p>
        </p:txBody>
      </p:sp>
      <p:sp>
        <p:nvSpPr>
          <p:cNvPr id="2" name="TextBox 1">
            <a:extLst>
              <a:ext uri="{FF2B5EF4-FFF2-40B4-BE49-F238E27FC236}">
                <a16:creationId xmlns:a16="http://schemas.microsoft.com/office/drawing/2014/main" id="{C13D8A4A-A614-AA42-8366-E84AB27CD115}"/>
              </a:ext>
            </a:extLst>
          </p:cNvPr>
          <p:cNvSpPr txBox="1"/>
          <p:nvPr/>
        </p:nvSpPr>
        <p:spPr>
          <a:xfrm>
            <a:off x="7234518" y="119678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14582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231598"/>
            <a:ext cx="12234440" cy="1320800"/>
          </a:xfrm>
        </p:spPr>
        <p:txBody>
          <a:bodyPr>
            <a:normAutofit/>
          </a:bodyPr>
          <a:lstStyle/>
          <a:p>
            <a:r>
              <a:rPr lang="en-US" sz="4000" dirty="0"/>
              <a:t>EIA – GENERAL ASSISTANCE </a:t>
            </a:r>
            <a:r>
              <a:rPr lang="en-US" sz="4000" dirty="0" err="1"/>
              <a:t>DON’ts</a:t>
            </a:r>
            <a:endParaRPr lang="en-US" sz="4000" dirty="0"/>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282024" y="1602805"/>
            <a:ext cx="8996055" cy="4339045"/>
          </a:xfrm>
        </p:spPr>
        <p:txBody>
          <a:bodyPr>
            <a:noAutofit/>
          </a:bodyPr>
          <a:lstStyle/>
          <a:p>
            <a:r>
              <a:rPr lang="en-CA" sz="2000" dirty="0"/>
              <a:t>Do not stop attending the Work Readiness program that EIA referred you to.</a:t>
            </a:r>
          </a:p>
          <a:p>
            <a:r>
              <a:rPr lang="en-CA" sz="2000" dirty="0"/>
              <a:t>Do not refuse an employment without a documented justification.</a:t>
            </a:r>
          </a:p>
          <a:p>
            <a:r>
              <a:rPr lang="en-CA" sz="2000" dirty="0"/>
              <a:t>If you feel that your health condition does not allow you to follow through with EIA’s expectations, talk to your doctor and ask for a medical note detailing your limitations.</a:t>
            </a:r>
          </a:p>
          <a:p>
            <a:r>
              <a:rPr lang="en-CA" sz="2000" dirty="0"/>
              <a:t>With that on hand, request a Medical Package to your Case Counsellor. Once you receive it, your working expectations should be waved until the EIA Interdisciplinary Panel decides whether or not you get the Disability Status.</a:t>
            </a:r>
          </a:p>
          <a:p>
            <a:pPr marL="0" indent="0">
              <a:buNone/>
            </a:pPr>
            <a:endParaRPr lang="en-CA" sz="2000" dirty="0">
              <a:latin typeface="Century Gothic" panose="020B0502020202020204" pitchFamily="34" charset="0"/>
            </a:endParaRPr>
          </a:p>
          <a:p>
            <a:pPr marL="0" indent="0">
              <a:buNone/>
            </a:pPr>
            <a:endParaRPr lang="en-CA" dirty="0">
              <a:latin typeface="Century Gothic" panose="020B0502020202020204" pitchFamily="34" charset="0"/>
            </a:endParaRPr>
          </a:p>
          <a:p>
            <a:endParaRPr lang="en-US" sz="1800" dirty="0">
              <a:latin typeface="Century Gothic" panose="020B0502020202020204" pitchFamily="34" charset="0"/>
            </a:endParaRPr>
          </a:p>
        </p:txBody>
      </p:sp>
      <p:sp>
        <p:nvSpPr>
          <p:cNvPr id="2" name="TextBox 1">
            <a:extLst>
              <a:ext uri="{FF2B5EF4-FFF2-40B4-BE49-F238E27FC236}">
                <a16:creationId xmlns:a16="http://schemas.microsoft.com/office/drawing/2014/main" id="{C13D8A4A-A614-AA42-8366-E84AB27CD115}"/>
              </a:ext>
            </a:extLst>
          </p:cNvPr>
          <p:cNvSpPr txBox="1"/>
          <p:nvPr/>
        </p:nvSpPr>
        <p:spPr>
          <a:xfrm>
            <a:off x="7234518" y="119678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71615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774870" y="335771"/>
            <a:ext cx="8596668" cy="1320800"/>
          </a:xfrm>
        </p:spPr>
        <p:txBody>
          <a:bodyPr>
            <a:normAutofit/>
          </a:bodyPr>
          <a:lstStyle/>
          <a:p>
            <a:r>
              <a:rPr lang="en-US" sz="4000" dirty="0"/>
              <a:t>EIA FOR SINGLE PARENTS</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004800" y="1918270"/>
            <a:ext cx="8996055" cy="3345082"/>
          </a:xfrm>
        </p:spPr>
        <p:txBody>
          <a:bodyPr>
            <a:normAutofit/>
          </a:bodyPr>
          <a:lstStyle/>
          <a:p>
            <a:pPr>
              <a:lnSpc>
                <a:spcPct val="100000"/>
              </a:lnSpc>
            </a:pPr>
            <a:r>
              <a:rPr lang="en-CA" sz="2000" dirty="0"/>
              <a:t>The parent requesting social assistance at intake, must provide the following mandatory documents:</a:t>
            </a:r>
          </a:p>
          <a:p>
            <a:pPr lvl="1">
              <a:lnSpc>
                <a:spcPct val="100000"/>
              </a:lnSpc>
            </a:pPr>
            <a:r>
              <a:rPr lang="en-CA" sz="2000" dirty="0"/>
              <a:t>Proof of having the child’s custody on a full-time or part-time basis (court order or private agreement)</a:t>
            </a:r>
          </a:p>
          <a:p>
            <a:pPr lvl="1">
              <a:lnSpc>
                <a:spcPct val="100000"/>
              </a:lnSpc>
            </a:pPr>
            <a:r>
              <a:rPr lang="en-CA" sz="2000" dirty="0"/>
              <a:t>Child’s birth certificate (if you don’t have it, please request EIA to provide the basic fee to get one)</a:t>
            </a:r>
          </a:p>
          <a:p>
            <a:pPr lvl="1">
              <a:lnSpc>
                <a:spcPct val="100000"/>
              </a:lnSpc>
            </a:pPr>
            <a:r>
              <a:rPr lang="en-CA" sz="2000" dirty="0"/>
              <a:t>Marital status: Divorce papers and/or separation agreement as applicable</a:t>
            </a:r>
          </a:p>
          <a:p>
            <a:pPr lvl="1">
              <a:lnSpc>
                <a:spcPct val="100000"/>
              </a:lnSpc>
            </a:pPr>
            <a:r>
              <a:rPr lang="en-CA" sz="2000" dirty="0"/>
              <a:t>Proof of request for child support (at least an application for Legal Aid) if applicable</a:t>
            </a:r>
          </a:p>
          <a:p>
            <a:pPr lvl="1"/>
            <a:endParaRPr lang="en-CA" dirty="0">
              <a:latin typeface="Century Gothic" panose="020B0502020202020204" pitchFamily="34" charset="0"/>
            </a:endParaRPr>
          </a:p>
          <a:p>
            <a:endParaRPr lang="en-CA" dirty="0">
              <a:latin typeface="Century Gothic" panose="020B0502020202020204" pitchFamily="34" charset="0"/>
            </a:endParaRPr>
          </a:p>
          <a:p>
            <a:endParaRPr lang="en-US" sz="2000" dirty="0">
              <a:latin typeface="Century Gothic" panose="020B0502020202020204" pitchFamily="34" charset="0"/>
            </a:endParaRPr>
          </a:p>
        </p:txBody>
      </p:sp>
    </p:spTree>
    <p:extLst>
      <p:ext uri="{BB962C8B-B14F-4D97-AF65-F5344CB8AC3E}">
        <p14:creationId xmlns:p14="http://schemas.microsoft.com/office/powerpoint/2010/main" val="385807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774870" y="335771"/>
            <a:ext cx="9885414" cy="1320800"/>
          </a:xfrm>
        </p:spPr>
        <p:txBody>
          <a:bodyPr>
            <a:normAutofit/>
          </a:bodyPr>
          <a:lstStyle/>
          <a:p>
            <a:r>
              <a:rPr lang="en-US" sz="4000" dirty="0"/>
              <a:t>EIA FOR SINGLE PARENTS – don’ts</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029514" y="1656571"/>
            <a:ext cx="8996055" cy="3345082"/>
          </a:xfrm>
        </p:spPr>
        <p:txBody>
          <a:bodyPr>
            <a:normAutofit/>
          </a:bodyPr>
          <a:lstStyle/>
          <a:p>
            <a:pPr>
              <a:lnSpc>
                <a:spcPct val="100000"/>
              </a:lnSpc>
            </a:pPr>
            <a:r>
              <a:rPr lang="en-CA" sz="2000" dirty="0"/>
              <a:t>The parent requesting social assistance should not:</a:t>
            </a:r>
            <a:endParaRPr lang="en-CA" sz="1800" dirty="0"/>
          </a:p>
          <a:p>
            <a:pPr lvl="1">
              <a:lnSpc>
                <a:spcPct val="100000"/>
              </a:lnSpc>
            </a:pPr>
            <a:r>
              <a:rPr lang="en-CA" sz="2000" dirty="0"/>
              <a:t>Refuse to pursue child support</a:t>
            </a:r>
          </a:p>
          <a:p>
            <a:pPr lvl="1">
              <a:lnSpc>
                <a:spcPct val="100000"/>
              </a:lnSpc>
            </a:pPr>
            <a:r>
              <a:rPr lang="en-CA" sz="2000" dirty="0"/>
              <a:t>Fail to report child apprehension and loss of custody</a:t>
            </a:r>
          </a:p>
          <a:p>
            <a:pPr lvl="1">
              <a:lnSpc>
                <a:spcPct val="100000"/>
              </a:lnSpc>
            </a:pPr>
            <a:r>
              <a:rPr lang="en-CA" sz="2000" dirty="0"/>
              <a:t>Fail to report any financial resource that the other parent provides at any given time (even if the Child Care Benefit is being shared informally) </a:t>
            </a:r>
          </a:p>
          <a:p>
            <a:pPr lvl="1">
              <a:lnSpc>
                <a:spcPct val="100000"/>
              </a:lnSpc>
            </a:pPr>
            <a:r>
              <a:rPr lang="en-CA" sz="2000" dirty="0"/>
              <a:t>Fail to report that the child support has been interrupted or reinstated</a:t>
            </a:r>
          </a:p>
          <a:p>
            <a:pPr lvl="1">
              <a:lnSpc>
                <a:spcPct val="100000"/>
              </a:lnSpc>
            </a:pPr>
            <a:r>
              <a:rPr lang="en-CA" sz="2000" dirty="0"/>
              <a:t>Fail to report any changes in family size (marriage, common-law partner, new baby, </a:t>
            </a:r>
            <a:r>
              <a:rPr lang="en-CA" sz="2000" dirty="0" err="1"/>
              <a:t>etc</a:t>
            </a:r>
            <a:r>
              <a:rPr lang="en-CA" sz="2000" dirty="0"/>
              <a:t>)</a:t>
            </a:r>
          </a:p>
          <a:p>
            <a:pPr lvl="1"/>
            <a:endParaRPr lang="en-CA" dirty="0"/>
          </a:p>
          <a:p>
            <a:endParaRPr lang="en-CA" dirty="0"/>
          </a:p>
          <a:p>
            <a:endParaRPr lang="en-US" sz="2000" dirty="0"/>
          </a:p>
        </p:txBody>
      </p:sp>
    </p:spTree>
    <p:extLst>
      <p:ext uri="{BB962C8B-B14F-4D97-AF65-F5344CB8AC3E}">
        <p14:creationId xmlns:p14="http://schemas.microsoft.com/office/powerpoint/2010/main" val="971043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321972" y="548424"/>
            <a:ext cx="11629738" cy="1053873"/>
          </a:xfrm>
        </p:spPr>
        <p:txBody>
          <a:bodyPr anchor="ctr">
            <a:noAutofit/>
          </a:bodyPr>
          <a:lstStyle/>
          <a:p>
            <a:r>
              <a:rPr lang="en-US" sz="3200" dirty="0"/>
              <a:t>Medical Barriers to Full Employment -  Formerly Disability status</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858183" y="1818541"/>
            <a:ext cx="9852293" cy="3925024"/>
          </a:xfrm>
        </p:spPr>
        <p:txBody>
          <a:bodyPr anchor="t">
            <a:normAutofit fontScale="85000" lnSpcReduction="20000"/>
          </a:bodyPr>
          <a:lstStyle/>
          <a:p>
            <a:pPr marL="0" indent="0">
              <a:lnSpc>
                <a:spcPct val="100000"/>
              </a:lnSpc>
              <a:buNone/>
            </a:pPr>
            <a:endParaRPr lang="en-CA" sz="1600" dirty="0">
              <a:solidFill>
                <a:schemeClr val="accent4">
                  <a:lumMod val="75000"/>
                </a:schemeClr>
              </a:solidFill>
            </a:endParaRPr>
          </a:p>
          <a:p>
            <a:pPr>
              <a:lnSpc>
                <a:spcPct val="100000"/>
              </a:lnSpc>
            </a:pPr>
            <a:r>
              <a:rPr lang="en-CA" dirty="0">
                <a:solidFill>
                  <a:schemeClr val="tx1"/>
                </a:solidFill>
              </a:rPr>
              <a:t>Section 5(1) of the Manitoba Assistance Act defines the eligibility criteria for the Disability Status under EIA as follows:</a:t>
            </a:r>
          </a:p>
          <a:p>
            <a:pPr lvl="2">
              <a:lnSpc>
                <a:spcPct val="100000"/>
              </a:lnSpc>
            </a:pPr>
            <a:r>
              <a:rPr lang="en-CA" sz="1800" dirty="0">
                <a:solidFill>
                  <a:schemeClr val="tx1"/>
                </a:solidFill>
              </a:rPr>
              <a:t>(a) who, by reason of age or by reason of physical or mental ill health, or physical or mental </a:t>
            </a:r>
            <a:r>
              <a:rPr lang="en-CA" sz="1800" b="1" u="sng" dirty="0">
                <a:solidFill>
                  <a:schemeClr val="tx1"/>
                </a:solidFill>
              </a:rPr>
              <a:t>incapacity or disorder likely to continue for a period of more than one year</a:t>
            </a:r>
            <a:r>
              <a:rPr lang="en-CA" sz="1800" b="1" dirty="0">
                <a:solidFill>
                  <a:schemeClr val="tx1"/>
                </a:solidFill>
              </a:rPr>
              <a:t>,</a:t>
            </a:r>
          </a:p>
          <a:p>
            <a:pPr marL="0" indent="0">
              <a:lnSpc>
                <a:spcPct val="100000"/>
              </a:lnSpc>
              <a:buNone/>
            </a:pPr>
            <a:endParaRPr lang="en-CA" dirty="0">
              <a:solidFill>
                <a:schemeClr val="tx1"/>
              </a:solidFill>
            </a:endParaRPr>
          </a:p>
          <a:p>
            <a:pPr marL="0" indent="0">
              <a:lnSpc>
                <a:spcPct val="100000"/>
              </a:lnSpc>
              <a:buNone/>
            </a:pPr>
            <a:r>
              <a:rPr lang="en-CA" dirty="0">
                <a:solidFill>
                  <a:schemeClr val="tx1"/>
                </a:solidFill>
              </a:rPr>
              <a:t>(</a:t>
            </a:r>
            <a:r>
              <a:rPr lang="en-CA" dirty="0" err="1">
                <a:solidFill>
                  <a:schemeClr val="tx1"/>
                </a:solidFill>
              </a:rPr>
              <a:t>i</a:t>
            </a:r>
            <a:r>
              <a:rPr lang="en-CA" dirty="0">
                <a:solidFill>
                  <a:schemeClr val="tx1"/>
                </a:solidFill>
              </a:rPr>
              <a:t>) </a:t>
            </a:r>
            <a:r>
              <a:rPr lang="en-CA" b="1" u="sng" dirty="0">
                <a:solidFill>
                  <a:schemeClr val="tx1"/>
                </a:solidFill>
              </a:rPr>
              <a:t>is unable to earn an income sufficient to meet the basic necessities</a:t>
            </a:r>
            <a:r>
              <a:rPr lang="en-CA" b="1" dirty="0">
                <a:solidFill>
                  <a:schemeClr val="tx1"/>
                </a:solidFill>
              </a:rPr>
              <a:t> </a:t>
            </a:r>
            <a:r>
              <a:rPr lang="en-CA" b="1" u="sng" dirty="0">
                <a:solidFill>
                  <a:schemeClr val="tx1"/>
                </a:solidFill>
              </a:rPr>
              <a:t>of themselves and their dependants, if any</a:t>
            </a:r>
            <a:r>
              <a:rPr lang="en-CA" b="1" dirty="0">
                <a:solidFill>
                  <a:schemeClr val="tx1"/>
                </a:solidFill>
              </a:rPr>
              <a:t>;…”</a:t>
            </a:r>
            <a:r>
              <a:rPr lang="en-CA" dirty="0">
                <a:solidFill>
                  <a:schemeClr val="tx1"/>
                </a:solidFill>
              </a:rPr>
              <a:t> </a:t>
            </a:r>
          </a:p>
          <a:p>
            <a:pPr marL="0" indent="0">
              <a:lnSpc>
                <a:spcPct val="100000"/>
              </a:lnSpc>
              <a:buNone/>
            </a:pPr>
            <a:r>
              <a:rPr lang="en-CA" dirty="0">
                <a:solidFill>
                  <a:schemeClr val="tx1"/>
                </a:solidFill>
              </a:rPr>
              <a:t>This means we need to be able to show the department that your disability is prolonged and severe. Which indicates a high impact on your daily living. This needs to be supported by medical evidence provided by your doctor or specialist. </a:t>
            </a:r>
          </a:p>
          <a:p>
            <a:pPr marL="548640" lvl="2" indent="0">
              <a:buNone/>
            </a:pPr>
            <a:endParaRPr lang="en-US" sz="1800" dirty="0">
              <a:latin typeface="Century Gothic" panose="020B0502020202020204" pitchFamily="34" charset="0"/>
            </a:endParaRPr>
          </a:p>
        </p:txBody>
      </p:sp>
      <p:pic>
        <p:nvPicPr>
          <p:cNvPr id="2" name="Picture 1">
            <a:extLst>
              <a:ext uri="{FF2B5EF4-FFF2-40B4-BE49-F238E27FC236}">
                <a16:creationId xmlns:a16="http://schemas.microsoft.com/office/drawing/2014/main" id="{5F2F7ACC-AA4D-F028-ADDA-1E1E0528AC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094560" y="5646408"/>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934409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231598"/>
            <a:ext cx="10118528" cy="1320800"/>
          </a:xfrm>
        </p:spPr>
        <p:txBody>
          <a:bodyPr>
            <a:normAutofit/>
          </a:bodyPr>
          <a:lstStyle/>
          <a:p>
            <a:r>
              <a:rPr lang="en-US" sz="4000" dirty="0"/>
              <a:t>EIA INTAKE – MBTE</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171977" y="1552397"/>
            <a:ext cx="9221274" cy="4243095"/>
          </a:xfrm>
        </p:spPr>
        <p:txBody>
          <a:bodyPr>
            <a:normAutofit/>
          </a:bodyPr>
          <a:lstStyle/>
          <a:p>
            <a:pPr>
              <a:lnSpc>
                <a:spcPct val="110000"/>
              </a:lnSpc>
            </a:pPr>
            <a:r>
              <a:rPr lang="en-CA" sz="2000" dirty="0"/>
              <a:t>You should request an intake appointment as a person with a disability if:</a:t>
            </a:r>
          </a:p>
          <a:p>
            <a:pPr lvl="1">
              <a:lnSpc>
                <a:spcPct val="110000"/>
              </a:lnSpc>
            </a:pPr>
            <a:r>
              <a:rPr lang="en-CA" sz="2000" dirty="0"/>
              <a:t>You live in Manitoba and are 18 years of age or older.</a:t>
            </a:r>
          </a:p>
          <a:p>
            <a:pPr lvl="1">
              <a:lnSpc>
                <a:spcPct val="110000"/>
              </a:lnSpc>
            </a:pPr>
            <a:r>
              <a:rPr lang="en-CA" sz="2000" dirty="0"/>
              <a:t>If you by reason of age or by reason of physical or mental ill health, or physical or mental incapacity or disorder that is likely to continue for more than 12 months </a:t>
            </a:r>
          </a:p>
          <a:p>
            <a:pPr lvl="2">
              <a:lnSpc>
                <a:spcPct val="110000"/>
              </a:lnSpc>
            </a:pPr>
            <a:r>
              <a:rPr lang="en-CA" dirty="0"/>
              <a:t>is unable to earn an income sufficient to meet the basic necessities of himself and his dependants, if any; or</a:t>
            </a:r>
          </a:p>
          <a:p>
            <a:pPr lvl="2">
              <a:lnSpc>
                <a:spcPct val="110000"/>
              </a:lnSpc>
            </a:pPr>
            <a:r>
              <a:rPr lang="en-CA" dirty="0"/>
              <a:t>is unable to care for himself and requires to be cared for by another person or in an institution or home for the aged or the infirm</a:t>
            </a:r>
            <a:br>
              <a:rPr lang="en-CA" dirty="0"/>
            </a:br>
            <a:endParaRPr lang="en-US" sz="1800" dirty="0"/>
          </a:p>
        </p:txBody>
      </p:sp>
    </p:spTree>
    <p:extLst>
      <p:ext uri="{BB962C8B-B14F-4D97-AF65-F5344CB8AC3E}">
        <p14:creationId xmlns:p14="http://schemas.microsoft.com/office/powerpoint/2010/main" val="3712308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231598"/>
            <a:ext cx="12234440" cy="1320800"/>
          </a:xfrm>
        </p:spPr>
        <p:txBody>
          <a:bodyPr>
            <a:normAutofit/>
          </a:bodyPr>
          <a:lstStyle/>
          <a:p>
            <a:r>
              <a:rPr lang="en-US" sz="4000" dirty="0"/>
              <a:t>EIA – INTAKE FOR persons with a disability</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107662" y="1675734"/>
            <a:ext cx="8996055" cy="3506531"/>
          </a:xfrm>
        </p:spPr>
        <p:txBody>
          <a:bodyPr>
            <a:noAutofit/>
          </a:bodyPr>
          <a:lstStyle/>
          <a:p>
            <a:pPr>
              <a:lnSpc>
                <a:spcPct val="100000"/>
              </a:lnSpc>
            </a:pPr>
            <a:r>
              <a:rPr lang="en-CA" sz="1600" dirty="0"/>
              <a:t>At intake you have to request a Medical Package if you have a health condition that will last more than 12 months and prevents you from working enough to support yourself</a:t>
            </a:r>
          </a:p>
          <a:p>
            <a:pPr>
              <a:lnSpc>
                <a:spcPct val="100000"/>
              </a:lnSpc>
            </a:pPr>
            <a:r>
              <a:rPr lang="en-CA" sz="1600" dirty="0"/>
              <a:t>The medical package includes:</a:t>
            </a:r>
          </a:p>
          <a:p>
            <a:pPr lvl="1">
              <a:lnSpc>
                <a:spcPct val="100000"/>
              </a:lnSpc>
            </a:pPr>
            <a:r>
              <a:rPr lang="en-CA" sz="1600" dirty="0"/>
              <a:t>Self Report: Always take time to fill this out. That is your only chance to explain to </a:t>
            </a:r>
            <a:r>
              <a:rPr lang="en-CA" sz="1600" dirty="0" err="1"/>
              <a:t>theMedical</a:t>
            </a:r>
            <a:r>
              <a:rPr lang="en-CA" sz="1600" dirty="0"/>
              <a:t> Panel, in your own words, how your disability affects your daily living.​</a:t>
            </a:r>
          </a:p>
          <a:p>
            <a:pPr lvl="1">
              <a:lnSpc>
                <a:spcPct val="100000"/>
              </a:lnSpc>
            </a:pPr>
            <a:r>
              <a:rPr lang="en-CA" sz="1600" dirty="0"/>
              <a:t>Medical Assessment Report: A medical practitioner can fill it out. This includes a Registered Nurse.</a:t>
            </a:r>
          </a:p>
          <a:p>
            <a:pPr lvl="1">
              <a:lnSpc>
                <a:spcPct val="100000"/>
              </a:lnSpc>
            </a:pPr>
            <a:r>
              <a:rPr lang="en-CA" sz="1600" dirty="0"/>
              <a:t>Bill for service: This is also for the medical practitioner to send to EIA</a:t>
            </a:r>
          </a:p>
          <a:p>
            <a:pPr fontAlgn="base">
              <a:lnSpc>
                <a:spcPct val="100000"/>
              </a:lnSpc>
            </a:pPr>
            <a:r>
              <a:rPr lang="en-US" sz="1400" dirty="0"/>
              <a:t>The Medical Panel will assess your medical info and determine whether you are eligible for Medical Barriers to Full Employment or for the MB Supports program.​</a:t>
            </a:r>
            <a:endParaRPr lang="en-US" sz="1800" dirty="0"/>
          </a:p>
          <a:p>
            <a:pPr fontAlgn="base">
              <a:lnSpc>
                <a:spcPct val="100000"/>
              </a:lnSpc>
            </a:pPr>
            <a:r>
              <a:rPr lang="en-US" sz="1400" dirty="0"/>
              <a:t>This application process can take up to 4 months. In the meantime, you can still remain on General Assistance benefits.​</a:t>
            </a:r>
            <a:endParaRPr lang="en-US" sz="1800" dirty="0"/>
          </a:p>
          <a:p>
            <a:pPr lvl="1">
              <a:lnSpc>
                <a:spcPct val="100000"/>
              </a:lnSpc>
            </a:pPr>
            <a:endParaRPr lang="en-US" sz="1600" dirty="0"/>
          </a:p>
          <a:p>
            <a:pPr marL="324000" lvl="1" indent="0">
              <a:buNone/>
            </a:pPr>
            <a:endParaRPr lang="en-US" sz="1800" dirty="0"/>
          </a:p>
          <a:p>
            <a:pPr marL="324000" lvl="1" indent="0" algn="ctr">
              <a:buNone/>
            </a:pPr>
            <a:r>
              <a:rPr lang="en-US" sz="1400" i="1" dirty="0">
                <a:solidFill>
                  <a:srgbClr val="FF0000"/>
                </a:solidFill>
              </a:rPr>
              <a:t>Unless you are receiving CPP-Disability Benefits, you will be put in the General Assistance Category until a decision is made regarding your Disability Status</a:t>
            </a:r>
          </a:p>
          <a:p>
            <a:pPr marL="324000" lvl="1" indent="0" algn="ctr">
              <a:buNone/>
            </a:pPr>
            <a:endParaRPr lang="en-CA" i="1"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3128682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094560" y="5646408"/>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796954"/>
            <a:ext cx="11107448" cy="830510"/>
          </a:xfrm>
        </p:spPr>
        <p:txBody>
          <a:bodyPr anchor="ctr">
            <a:normAutofit/>
          </a:bodyPr>
          <a:lstStyle/>
          <a:p>
            <a:r>
              <a:rPr lang="en-US" dirty="0"/>
              <a:t>EIA – MBTE status Money exempt</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294381" y="2129742"/>
            <a:ext cx="8996055" cy="4339045"/>
          </a:xfrm>
        </p:spPr>
        <p:txBody>
          <a:bodyPr>
            <a:noAutofit/>
          </a:bodyPr>
          <a:lstStyle/>
          <a:p>
            <a:r>
              <a:rPr lang="en-CA" sz="1600" dirty="0">
                <a:solidFill>
                  <a:schemeClr val="tx1"/>
                </a:solidFill>
              </a:rPr>
              <a:t>part of employment earnings</a:t>
            </a:r>
          </a:p>
          <a:p>
            <a:r>
              <a:rPr lang="en-CA" sz="1600" dirty="0">
                <a:solidFill>
                  <a:schemeClr val="tx1"/>
                </a:solidFill>
              </a:rPr>
              <a:t>part of rent or room and board paid to the participant</a:t>
            </a:r>
          </a:p>
          <a:p>
            <a:r>
              <a:rPr lang="en-CA" sz="1600" dirty="0">
                <a:solidFill>
                  <a:schemeClr val="tx1"/>
                </a:solidFill>
              </a:rPr>
              <a:t>up to $500 gift per month from family or friends </a:t>
            </a:r>
          </a:p>
          <a:p>
            <a:r>
              <a:rPr lang="en-CA" sz="1600" dirty="0">
                <a:solidFill>
                  <a:schemeClr val="tx1"/>
                </a:solidFill>
              </a:rPr>
              <a:t>foster home maintenance payments</a:t>
            </a:r>
          </a:p>
          <a:p>
            <a:r>
              <a:rPr lang="en-CA" sz="1600" dirty="0">
                <a:solidFill>
                  <a:schemeClr val="tx1"/>
                </a:solidFill>
              </a:rPr>
              <a:t>Rent Assist while receiving EIA benefits</a:t>
            </a:r>
          </a:p>
          <a:p>
            <a:r>
              <a:rPr lang="en-CA" sz="1600" dirty="0">
                <a:solidFill>
                  <a:schemeClr val="tx1"/>
                </a:solidFill>
              </a:rPr>
              <a:t>Canada Child Tax Benefit</a:t>
            </a:r>
          </a:p>
          <a:p>
            <a:r>
              <a:rPr lang="en-CA" sz="1600" dirty="0">
                <a:solidFill>
                  <a:schemeClr val="tx1"/>
                </a:solidFill>
              </a:rPr>
              <a:t>Universal Child Care Benefit</a:t>
            </a:r>
          </a:p>
          <a:p>
            <a:r>
              <a:rPr lang="en-CA" sz="1600" dirty="0">
                <a:solidFill>
                  <a:schemeClr val="tx1"/>
                </a:solidFill>
              </a:rPr>
              <a:t>tax credit refunds</a:t>
            </a:r>
          </a:p>
          <a:p>
            <a:r>
              <a:rPr lang="en-CA" sz="1600" dirty="0">
                <a:solidFill>
                  <a:schemeClr val="tx1"/>
                </a:solidFill>
              </a:rPr>
              <a:t>Manitoba Prenatal Benefit Program benefits</a:t>
            </a:r>
          </a:p>
          <a:p>
            <a:r>
              <a:rPr lang="en-CA" sz="1600" dirty="0">
                <a:solidFill>
                  <a:schemeClr val="tx1"/>
                </a:solidFill>
              </a:rPr>
              <a:t>earnings of children who are in school or an EIA‑approved program, full-time </a:t>
            </a:r>
          </a:p>
          <a:p>
            <a:r>
              <a:rPr lang="en-CA" sz="1600" dirty="0">
                <a:solidFill>
                  <a:schemeClr val="tx1"/>
                </a:solidFill>
              </a:rPr>
              <a:t>Registered Disability Savings Plan withdrawals</a:t>
            </a:r>
          </a:p>
          <a:p>
            <a:endParaRPr lang="en-US" sz="1800" dirty="0">
              <a:latin typeface="Century Gothic" panose="020B0502020202020204" pitchFamily="34" charset="0"/>
            </a:endParaRPr>
          </a:p>
        </p:txBody>
      </p:sp>
    </p:spTree>
    <p:extLst>
      <p:ext uri="{BB962C8B-B14F-4D97-AF65-F5344CB8AC3E}">
        <p14:creationId xmlns:p14="http://schemas.microsoft.com/office/powerpoint/2010/main" val="3820479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1164009" y="5637461"/>
            <a:ext cx="857150" cy="1053873"/>
          </a:xfrm>
          <a:prstGeom prst="rect">
            <a:avLst/>
          </a:prstGeo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231598"/>
            <a:ext cx="12234440" cy="1320800"/>
          </a:xfrm>
        </p:spPr>
        <p:txBody>
          <a:bodyPr>
            <a:normAutofit/>
          </a:bodyPr>
          <a:lstStyle/>
          <a:p>
            <a:r>
              <a:rPr lang="en-US" sz="4000" dirty="0"/>
              <a:t>EIA – MBTE – VOLUNTEER ALLOWANCE</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375088" y="1824549"/>
            <a:ext cx="8996055" cy="4189885"/>
          </a:xfrm>
        </p:spPr>
        <p:txBody>
          <a:bodyPr>
            <a:noAutofit/>
          </a:bodyPr>
          <a:lstStyle/>
          <a:p>
            <a:r>
              <a:rPr lang="en-US" sz="1800" dirty="0"/>
              <a:t>If you have the MBTE status, you are eligible for a monthly volunteer allowance as follows:</a:t>
            </a:r>
          </a:p>
          <a:p>
            <a:pPr lvl="1"/>
            <a:r>
              <a:rPr lang="en-US" sz="1800" dirty="0"/>
              <a:t>4 to 7 ongoing times per month: $50 </a:t>
            </a:r>
          </a:p>
          <a:p>
            <a:pPr lvl="1"/>
            <a:r>
              <a:rPr lang="en-US" sz="1800" dirty="0"/>
              <a:t>8 or more ongoing times per month: $100 </a:t>
            </a:r>
          </a:p>
          <a:p>
            <a:r>
              <a:rPr lang="en-US" sz="1800" dirty="0"/>
              <a:t>To release this allowance, the volunteer activities must meet the following conditions:</a:t>
            </a:r>
          </a:p>
          <a:p>
            <a:pPr lvl="1"/>
            <a:r>
              <a:rPr lang="en-US" sz="1800" dirty="0"/>
              <a:t>Proof of ongoing attendance must be provided through a Volunteer Log Sheet. </a:t>
            </a:r>
          </a:p>
          <a:p>
            <a:pPr lvl="1"/>
            <a:r>
              <a:rPr lang="en-US" sz="1800" dirty="0"/>
              <a:t>The approved volunteer placement must take place in a non-for-profit agency outside of your place of residence. </a:t>
            </a:r>
          </a:p>
          <a:p>
            <a:pPr lvl="1"/>
            <a:r>
              <a:rPr lang="en-US" sz="1800" dirty="0"/>
              <a:t>If you are already engaged in a job readiness program; such as EAPD, you cannot receive the volunteer allowance at the same time.</a:t>
            </a:r>
          </a:p>
          <a:p>
            <a:pPr lvl="1"/>
            <a:r>
              <a:rPr lang="en-US" sz="1800" dirty="0"/>
              <a:t>The volunteer log sheet must be handed in to the CC every month to get the allowance.</a:t>
            </a:r>
          </a:p>
        </p:txBody>
      </p:sp>
    </p:spTree>
    <p:extLst>
      <p:ext uri="{BB962C8B-B14F-4D97-AF65-F5344CB8AC3E}">
        <p14:creationId xmlns:p14="http://schemas.microsoft.com/office/powerpoint/2010/main" val="1614537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561473" y="746620"/>
            <a:ext cx="10635915" cy="914400"/>
          </a:xfrm>
        </p:spPr>
        <p:txBody>
          <a:bodyPr anchor="ctr">
            <a:noAutofit/>
          </a:bodyPr>
          <a:lstStyle/>
          <a:p>
            <a:r>
              <a:rPr lang="en-US" dirty="0"/>
              <a:t>EIA – Applying for CPP at age 60</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561473" y="2351531"/>
            <a:ext cx="10635915" cy="3054658"/>
          </a:xfrm>
        </p:spPr>
        <p:txBody>
          <a:bodyPr anchor="t">
            <a:noAutofit/>
          </a:bodyPr>
          <a:lstStyle/>
          <a:p>
            <a:r>
              <a:rPr lang="en-US" sz="2200" dirty="0">
                <a:solidFill>
                  <a:schemeClr val="tx1"/>
                </a:solidFill>
              </a:rPr>
              <a:t>As of July 1, 2020 it is </a:t>
            </a:r>
            <a:r>
              <a:rPr lang="en-US" sz="2200" b="1" u="sng" dirty="0">
                <a:solidFill>
                  <a:schemeClr val="tx1"/>
                </a:solidFill>
              </a:rPr>
              <a:t>not</a:t>
            </a:r>
            <a:r>
              <a:rPr lang="en-US" sz="2200" dirty="0">
                <a:solidFill>
                  <a:schemeClr val="tx1"/>
                </a:solidFill>
              </a:rPr>
              <a:t> mandatory to access CPP benefits at age 60 for people that have the Disability Status.</a:t>
            </a:r>
          </a:p>
          <a:p>
            <a:r>
              <a:rPr lang="en-US" sz="2200" dirty="0">
                <a:solidFill>
                  <a:schemeClr val="tx1"/>
                </a:solidFill>
              </a:rPr>
              <a:t>However, at the age of 65, participants are required to apply for CPP</a:t>
            </a:r>
          </a:p>
          <a:p>
            <a:r>
              <a:rPr lang="en-US" sz="2200" dirty="0">
                <a:solidFill>
                  <a:schemeClr val="tx1"/>
                </a:solidFill>
              </a:rPr>
              <a:t>EIA can “top up” the amount received from CPP if it is below your budget.</a:t>
            </a:r>
            <a:endParaRPr lang="en-CA" sz="2200" dirty="0"/>
          </a:p>
        </p:txBody>
      </p:sp>
      <p:pic>
        <p:nvPicPr>
          <p:cNvPr id="2" name="Picture 1">
            <a:extLst>
              <a:ext uri="{FF2B5EF4-FFF2-40B4-BE49-F238E27FC236}">
                <a16:creationId xmlns:a16="http://schemas.microsoft.com/office/drawing/2014/main" id="{8D57197A-1045-DA43-0F19-038FAF5F95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094560" y="5646408"/>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692084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4BF74D-0E1A-7D4B-91F6-19A863FA6F67}"/>
              </a:ext>
            </a:extLst>
          </p:cNvPr>
          <p:cNvSpPr>
            <a:spLocks noGrp="1"/>
          </p:cNvSpPr>
          <p:nvPr>
            <p:ph type="title"/>
          </p:nvPr>
        </p:nvSpPr>
        <p:spPr>
          <a:xfrm>
            <a:off x="541478" y="814937"/>
            <a:ext cx="9789638" cy="807860"/>
          </a:xfrm>
        </p:spPr>
        <p:txBody>
          <a:bodyPr anchor="ctr">
            <a:normAutofit/>
          </a:bodyPr>
          <a:lstStyle/>
          <a:p>
            <a:r>
              <a:rPr lang="en-US" dirty="0"/>
              <a:t>EIA – MB Supports</a:t>
            </a:r>
          </a:p>
        </p:txBody>
      </p:sp>
      <p:sp>
        <p:nvSpPr>
          <p:cNvPr id="5" name="Content Placeholder 2">
            <a:extLst>
              <a:ext uri="{FF2B5EF4-FFF2-40B4-BE49-F238E27FC236}">
                <a16:creationId xmlns:a16="http://schemas.microsoft.com/office/drawing/2014/main" id="{C41A25B6-E52A-D140-BF6A-A719F90117E5}"/>
              </a:ext>
            </a:extLst>
          </p:cNvPr>
          <p:cNvSpPr>
            <a:spLocks noGrp="1"/>
          </p:cNvSpPr>
          <p:nvPr>
            <p:ph idx="1"/>
          </p:nvPr>
        </p:nvSpPr>
        <p:spPr>
          <a:xfrm>
            <a:off x="541478" y="2012518"/>
            <a:ext cx="10498434" cy="3431937"/>
          </a:xfrm>
        </p:spPr>
        <p:txBody>
          <a:bodyPr anchor="t">
            <a:noAutofit/>
          </a:bodyPr>
          <a:lstStyle/>
          <a:p>
            <a:pPr marL="0" indent="0">
              <a:buNone/>
            </a:pPr>
            <a:r>
              <a:rPr lang="en-US" sz="2200" dirty="0">
                <a:solidFill>
                  <a:schemeClr val="tx1"/>
                </a:solidFill>
              </a:rPr>
              <a:t>Participants of this program will have:</a:t>
            </a:r>
          </a:p>
          <a:p>
            <a:pPr lvl="1"/>
            <a:r>
              <a:rPr lang="en-CA" sz="2200" dirty="0">
                <a:solidFill>
                  <a:schemeClr val="tx1"/>
                </a:solidFill>
              </a:rPr>
              <a:t>an assigned financial worker to issue monthly benefits;</a:t>
            </a:r>
          </a:p>
          <a:p>
            <a:pPr lvl="1"/>
            <a:r>
              <a:rPr lang="en-CA" sz="2200" dirty="0">
                <a:solidFill>
                  <a:schemeClr val="tx1"/>
                </a:solidFill>
              </a:rPr>
              <a:t>increased basic needs benefits of approximately $100 per month</a:t>
            </a:r>
          </a:p>
          <a:p>
            <a:pPr lvl="1"/>
            <a:r>
              <a:rPr lang="en-CA" sz="2200" dirty="0">
                <a:solidFill>
                  <a:schemeClr val="tx1"/>
                </a:solidFill>
              </a:rPr>
              <a:t>laundry and phone allowances </a:t>
            </a:r>
            <a:r>
              <a:rPr lang="en-CA" sz="2200" u="sng" dirty="0">
                <a:solidFill>
                  <a:schemeClr val="tx1"/>
                </a:solidFill>
              </a:rPr>
              <a:t>automatically</a:t>
            </a:r>
            <a:r>
              <a:rPr lang="en-CA" sz="2200" dirty="0">
                <a:solidFill>
                  <a:schemeClr val="tx1"/>
                </a:solidFill>
              </a:rPr>
              <a:t> added to budgets</a:t>
            </a:r>
          </a:p>
          <a:p>
            <a:pPr lvl="1"/>
            <a:r>
              <a:rPr lang="en-CA" sz="2200" dirty="0">
                <a:solidFill>
                  <a:schemeClr val="tx1"/>
                </a:solidFill>
              </a:rPr>
              <a:t>ability to earn up to $12,000 per year before benefits are impacted</a:t>
            </a:r>
          </a:p>
          <a:p>
            <a:pPr lvl="1"/>
            <a:r>
              <a:rPr lang="en-CA" sz="2200" dirty="0">
                <a:solidFill>
                  <a:schemeClr val="tx1"/>
                </a:solidFill>
              </a:rPr>
              <a:t>access to health benefits for two years after a file closes.</a:t>
            </a:r>
          </a:p>
          <a:p>
            <a:pPr marL="324000" lvl="1" indent="0">
              <a:buNone/>
            </a:pPr>
            <a:endParaRPr lang="en-CA" sz="1400" dirty="0">
              <a:solidFill>
                <a:srgbClr val="8A002F"/>
              </a:solidFill>
              <a:latin typeface="Century Gothic" panose="020B0502020202020204" pitchFamily="34" charset="0"/>
            </a:endParaRPr>
          </a:p>
        </p:txBody>
      </p:sp>
      <p:pic>
        <p:nvPicPr>
          <p:cNvPr id="3" name="Picture 2">
            <a:extLst>
              <a:ext uri="{FF2B5EF4-FFF2-40B4-BE49-F238E27FC236}">
                <a16:creationId xmlns:a16="http://schemas.microsoft.com/office/drawing/2014/main" id="{DEDF2F81-87EE-6633-E4EC-1945DD9A9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1094560" y="5646408"/>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912023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231598"/>
            <a:ext cx="12234440" cy="1320800"/>
          </a:xfrm>
        </p:spPr>
        <p:txBody>
          <a:bodyPr>
            <a:normAutofit/>
          </a:bodyPr>
          <a:lstStyle/>
          <a:p>
            <a:r>
              <a:rPr lang="en-US" sz="4000" dirty="0"/>
              <a:t>EIA – Disability status don’ts</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294381" y="2129742"/>
            <a:ext cx="8996055" cy="4339045"/>
          </a:xfrm>
        </p:spPr>
        <p:txBody>
          <a:bodyPr>
            <a:noAutofit/>
          </a:bodyPr>
          <a:lstStyle/>
          <a:p>
            <a:r>
              <a:rPr lang="en-CA" sz="2400" dirty="0"/>
              <a:t>Getting the Disability Status is not easy.</a:t>
            </a:r>
          </a:p>
          <a:p>
            <a:r>
              <a:rPr lang="en-CA" sz="2400" dirty="0"/>
              <a:t>If you don’t comply with what the medical practitioners are recommending as a treatment plan, it will be very difficult to get your Disability Status renewed.</a:t>
            </a:r>
          </a:p>
          <a:p>
            <a:r>
              <a:rPr lang="en-CA" sz="2400" dirty="0"/>
              <a:t>If you wish to work, that is OK, as long as it is at a limited capacity and you report it every month you your Case Counsellor.</a:t>
            </a:r>
          </a:p>
        </p:txBody>
      </p:sp>
    </p:spTree>
    <p:extLst>
      <p:ext uri="{BB962C8B-B14F-4D97-AF65-F5344CB8AC3E}">
        <p14:creationId xmlns:p14="http://schemas.microsoft.com/office/powerpoint/2010/main" val="3010767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231598"/>
            <a:ext cx="12234440" cy="1320800"/>
          </a:xfrm>
        </p:spPr>
        <p:txBody>
          <a:bodyPr>
            <a:normAutofit/>
          </a:bodyPr>
          <a:lstStyle/>
          <a:p>
            <a:r>
              <a:rPr lang="en-US" sz="4000" dirty="0"/>
              <a:t>EIA – How to represent yourself</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793582" y="1350593"/>
            <a:ext cx="10138933" cy="4857023"/>
          </a:xfrm>
        </p:spPr>
        <p:txBody>
          <a:bodyPr>
            <a:noAutofit/>
          </a:bodyPr>
          <a:lstStyle/>
          <a:p>
            <a:r>
              <a:rPr lang="en-CA" sz="2000" dirty="0"/>
              <a:t>Always keep a record of all the conversations/documents you have with your Case Counsellor.</a:t>
            </a:r>
          </a:p>
          <a:p>
            <a:r>
              <a:rPr lang="en-CA" sz="2000" dirty="0"/>
              <a:t>All the decisions that affect your monthly budget have to be mailed to you.</a:t>
            </a:r>
          </a:p>
          <a:p>
            <a:r>
              <a:rPr lang="en-CA" sz="2000" dirty="0"/>
              <a:t>It is OK to ask WHY? Absolutely!</a:t>
            </a:r>
          </a:p>
          <a:p>
            <a:pPr lvl="1"/>
            <a:r>
              <a:rPr lang="en-CA" sz="1600" dirty="0"/>
              <a:t>The Case Counsellor has to provide you with a reason backed by a regulation and/or policy.</a:t>
            </a:r>
          </a:p>
          <a:p>
            <a:r>
              <a:rPr lang="en-CA" sz="2000" dirty="0"/>
              <a:t>Most decisions at EIA are made on a “case by case” basis. Therefore, it all depends on how good of a case you can make for yourself.</a:t>
            </a:r>
          </a:p>
          <a:p>
            <a:r>
              <a:rPr lang="en-CA" sz="2000" dirty="0"/>
              <a:t>Always ask your Case Counsellor what can you provide in order to change a decision (</a:t>
            </a:r>
            <a:r>
              <a:rPr lang="en-CA" sz="2000" dirty="0" err="1"/>
              <a:t>eg</a:t>
            </a:r>
            <a:r>
              <a:rPr lang="en-CA" sz="2000" dirty="0"/>
              <a:t> Disability Denial).</a:t>
            </a:r>
          </a:p>
          <a:p>
            <a:r>
              <a:rPr lang="en-CA" sz="2000" dirty="0"/>
              <a:t>If after requesting a reconsideration of the decision, you get denied again, you can proceed to the Social Services Appeal Board</a:t>
            </a:r>
          </a:p>
          <a:p>
            <a:r>
              <a:rPr lang="en-CA" sz="2000" dirty="0"/>
              <a:t>You can appeal a decision directly to the Social Services Appeal with chances of winning only if your argument is supported by the current legislations and regulations. </a:t>
            </a:r>
          </a:p>
          <a:p>
            <a:endParaRPr lang="en-CA" sz="2000" dirty="0"/>
          </a:p>
        </p:txBody>
      </p:sp>
      <p:sp>
        <p:nvSpPr>
          <p:cNvPr id="2" name="TextBox 1">
            <a:extLst>
              <a:ext uri="{FF2B5EF4-FFF2-40B4-BE49-F238E27FC236}">
                <a16:creationId xmlns:a16="http://schemas.microsoft.com/office/drawing/2014/main" id="{C13D8A4A-A614-AA42-8366-E84AB27CD115}"/>
              </a:ext>
            </a:extLst>
          </p:cNvPr>
          <p:cNvSpPr txBox="1"/>
          <p:nvPr/>
        </p:nvSpPr>
        <p:spPr>
          <a:xfrm>
            <a:off x="7234518" y="119678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19516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88C07E-6A7E-A34B-94E7-399D3AEF1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0932515" y="5414914"/>
            <a:ext cx="857150" cy="1053873"/>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a:extLst>
              <a:ext uri="{FF2B5EF4-FFF2-40B4-BE49-F238E27FC236}">
                <a16:creationId xmlns:a16="http://schemas.microsoft.com/office/drawing/2014/main" id="{059DB282-39F2-304C-BDE3-BA94E8A92D60}"/>
              </a:ext>
            </a:extLst>
          </p:cNvPr>
          <p:cNvSpPr>
            <a:spLocks noGrp="1"/>
          </p:cNvSpPr>
          <p:nvPr>
            <p:ph type="title"/>
          </p:nvPr>
        </p:nvSpPr>
        <p:spPr>
          <a:xfrm>
            <a:off x="486137" y="231598"/>
            <a:ext cx="10963181" cy="1320800"/>
          </a:xfrm>
        </p:spPr>
        <p:txBody>
          <a:bodyPr>
            <a:normAutofit/>
          </a:bodyPr>
          <a:lstStyle/>
          <a:p>
            <a:r>
              <a:rPr lang="en-US" sz="4000" dirty="0"/>
              <a:t>EIA – How to represent yourself</a:t>
            </a:r>
          </a:p>
        </p:txBody>
      </p:sp>
      <p:sp>
        <p:nvSpPr>
          <p:cNvPr id="8" name="Content Placeholder 2">
            <a:extLst>
              <a:ext uri="{FF2B5EF4-FFF2-40B4-BE49-F238E27FC236}">
                <a16:creationId xmlns:a16="http://schemas.microsoft.com/office/drawing/2014/main" id="{F2E0C5F6-FB67-944A-A3A2-98676DDE5FD7}"/>
              </a:ext>
            </a:extLst>
          </p:cNvPr>
          <p:cNvSpPr>
            <a:spLocks noGrp="1"/>
          </p:cNvSpPr>
          <p:nvPr>
            <p:ph idx="1"/>
          </p:nvPr>
        </p:nvSpPr>
        <p:spPr>
          <a:xfrm>
            <a:off x="1597972" y="1602805"/>
            <a:ext cx="8996055" cy="4339045"/>
          </a:xfrm>
        </p:spPr>
        <p:txBody>
          <a:bodyPr>
            <a:noAutofit/>
          </a:bodyPr>
          <a:lstStyle/>
          <a:p>
            <a:r>
              <a:rPr lang="en-CA" sz="2000" dirty="0"/>
              <a:t>If you feel that your Case Counsellor is not being fair or mistreating you, you can contact the Fair Practices Office and file a complaint:</a:t>
            </a:r>
          </a:p>
          <a:p>
            <a:pPr marL="0" indent="0">
              <a:buNone/>
            </a:pPr>
            <a:endParaRPr lang="en-CA" sz="2000" dirty="0"/>
          </a:p>
          <a:p>
            <a:pPr marL="0" indent="0" algn="ctr">
              <a:buNone/>
            </a:pPr>
            <a:r>
              <a:rPr lang="en-CA" sz="2400" b="1" dirty="0"/>
              <a:t>Fair Practices Office </a:t>
            </a:r>
            <a:br>
              <a:rPr lang="en-CA" sz="1800" dirty="0"/>
            </a:br>
            <a:r>
              <a:rPr lang="en-CA" sz="2400" dirty="0"/>
              <a:t>Phone: 204-945-1047 </a:t>
            </a:r>
            <a:br>
              <a:rPr lang="en-CA" sz="1800" dirty="0"/>
            </a:br>
            <a:r>
              <a:rPr lang="en-CA" sz="2400" dirty="0"/>
              <a:t>Toll Free: 1-800-282-8069 </a:t>
            </a:r>
            <a:br>
              <a:rPr lang="en-CA" sz="1800" dirty="0"/>
            </a:br>
            <a:r>
              <a:rPr lang="en-CA" sz="2400" dirty="0"/>
              <a:t>ext. 1047 </a:t>
            </a:r>
            <a:br>
              <a:rPr lang="en-CA" sz="1800" dirty="0"/>
            </a:br>
            <a:r>
              <a:rPr lang="en-CA" sz="2400" dirty="0"/>
              <a:t>Fax: 204-948-3713</a:t>
            </a:r>
            <a:br>
              <a:rPr lang="en-CA" sz="1800" dirty="0"/>
            </a:br>
            <a:r>
              <a:rPr lang="en-CA" sz="2400" dirty="0"/>
              <a:t>Email: </a:t>
            </a:r>
            <a:r>
              <a:rPr lang="en-CA" sz="2400" dirty="0">
                <a:hlinkClick r:id="rId3"/>
              </a:rPr>
              <a:t>fairpractices@gov.mb.ca</a:t>
            </a:r>
            <a:endParaRPr lang="en-CA" sz="1800" dirty="0"/>
          </a:p>
          <a:p>
            <a:pPr marL="0" indent="0">
              <a:buNone/>
            </a:pPr>
            <a:endParaRPr lang="en-CA" dirty="0">
              <a:latin typeface="Century Gothic" panose="020B0502020202020204" pitchFamily="34" charset="0"/>
            </a:endParaRPr>
          </a:p>
          <a:p>
            <a:endParaRPr lang="en-US" sz="1800" dirty="0">
              <a:latin typeface="Century Gothic" panose="020B0502020202020204" pitchFamily="34" charset="0"/>
            </a:endParaRPr>
          </a:p>
        </p:txBody>
      </p:sp>
      <p:sp>
        <p:nvSpPr>
          <p:cNvPr id="2" name="TextBox 1">
            <a:extLst>
              <a:ext uri="{FF2B5EF4-FFF2-40B4-BE49-F238E27FC236}">
                <a16:creationId xmlns:a16="http://schemas.microsoft.com/office/drawing/2014/main" id="{C13D8A4A-A614-AA42-8366-E84AB27CD115}"/>
              </a:ext>
            </a:extLst>
          </p:cNvPr>
          <p:cNvSpPr txBox="1"/>
          <p:nvPr/>
        </p:nvSpPr>
        <p:spPr>
          <a:xfrm>
            <a:off x="7234518" y="119678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717225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1EE05-B801-2738-4E19-EA8332BB7E24}"/>
              </a:ext>
            </a:extLst>
          </p:cNvPr>
          <p:cNvSpPr>
            <a:spLocks noGrp="1"/>
          </p:cNvSpPr>
          <p:nvPr>
            <p:ph type="title"/>
          </p:nvPr>
        </p:nvSpPr>
        <p:spPr>
          <a:xfrm>
            <a:off x="581191" y="4610099"/>
            <a:ext cx="10993549" cy="1066801"/>
          </a:xfrm>
        </p:spPr>
        <p:txBody>
          <a:bodyPr vert="horz" lIns="91440" tIns="45720" rIns="91440" bIns="45720" rtlCol="0" anchor="b">
            <a:normAutofit/>
          </a:bodyPr>
          <a:lstStyle/>
          <a:p>
            <a:r>
              <a:rPr lang="en-US" dirty="0">
                <a:sym typeface="Wingdings" pitchFamily="2" charset="2"/>
              </a:rPr>
              <a:t> </a:t>
            </a:r>
            <a:r>
              <a:rPr lang="en-US" dirty="0"/>
              <a:t>Questions? </a:t>
            </a:r>
            <a:r>
              <a:rPr lang="en-US" dirty="0">
                <a:sym typeface="Wingdings" pitchFamily="2" charset="2"/>
              </a:rPr>
              <a:t></a:t>
            </a:r>
            <a:endParaRPr lang="en-US" dirty="0"/>
          </a:p>
        </p:txBody>
      </p:sp>
      <p:sp>
        <p:nvSpPr>
          <p:cNvPr id="3" name="Text Placeholder 2">
            <a:extLst>
              <a:ext uri="{FF2B5EF4-FFF2-40B4-BE49-F238E27FC236}">
                <a16:creationId xmlns:a16="http://schemas.microsoft.com/office/drawing/2014/main" id="{B606B282-5436-1C8D-4FBF-45882B37B508}"/>
              </a:ext>
            </a:extLst>
          </p:cNvPr>
          <p:cNvSpPr>
            <a:spLocks noGrp="1"/>
          </p:cNvSpPr>
          <p:nvPr>
            <p:ph type="body" idx="1"/>
          </p:nvPr>
        </p:nvSpPr>
        <p:spPr>
          <a:xfrm>
            <a:off x="581194" y="5697215"/>
            <a:ext cx="10993546" cy="525565"/>
          </a:xfrm>
        </p:spPr>
        <p:txBody>
          <a:bodyPr vert="horz" lIns="91440" tIns="45720" rIns="91440" bIns="45720" rtlCol="0" anchor="t">
            <a:normAutofit/>
          </a:bodyPr>
          <a:lstStyle/>
          <a:p>
            <a:r>
              <a:rPr lang="en-US" sz="1600" dirty="0">
                <a:solidFill>
                  <a:schemeClr val="tx1"/>
                </a:solidFill>
              </a:rPr>
              <a:t>For more information/directions you may contact us 204-942-6556</a:t>
            </a:r>
          </a:p>
        </p:txBody>
      </p:sp>
      <p:pic>
        <p:nvPicPr>
          <p:cNvPr id="7" name="Graphic 6" descr="Receiver">
            <a:extLst>
              <a:ext uri="{FF2B5EF4-FFF2-40B4-BE49-F238E27FC236}">
                <a16:creationId xmlns:a16="http://schemas.microsoft.com/office/drawing/2014/main" id="{019B8881-8418-6C2F-BCA3-579F18F815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3883" y="723899"/>
            <a:ext cx="3566161" cy="3566161"/>
          </a:xfrm>
          <a:prstGeom prst="rect">
            <a:avLst/>
          </a:prstGeom>
        </p:spPr>
      </p:pic>
    </p:spTree>
    <p:extLst>
      <p:ext uri="{BB962C8B-B14F-4D97-AF65-F5344CB8AC3E}">
        <p14:creationId xmlns:p14="http://schemas.microsoft.com/office/powerpoint/2010/main" val="667633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723</TotalTime>
  <Words>2828</Words>
  <Application>Microsoft Macintosh PowerPoint</Application>
  <PresentationFormat>Widescreen</PresentationFormat>
  <Paragraphs>244</Paragraphs>
  <Slides>31</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Aptos</vt:lpstr>
      <vt:lpstr>Aptos Display</vt:lpstr>
      <vt:lpstr>Arial</vt:lpstr>
      <vt:lpstr>Century Gothic</vt:lpstr>
      <vt:lpstr>Times</vt:lpstr>
      <vt:lpstr>Wingdings</vt:lpstr>
      <vt:lpstr>Office Theme</vt:lpstr>
      <vt:lpstr>Employment and Income Assistance (EIA) Overview </vt:lpstr>
      <vt:lpstr>Who we are </vt:lpstr>
      <vt:lpstr>Disclaimer</vt:lpstr>
      <vt:lpstr>EIA – How to apply</vt:lpstr>
      <vt:lpstr>Prior to Intake</vt:lpstr>
      <vt:lpstr>EIA Checklist </vt:lpstr>
      <vt:lpstr>Identification</vt:lpstr>
      <vt:lpstr>During Intake</vt:lpstr>
      <vt:lpstr>EIA – Forms</vt:lpstr>
      <vt:lpstr>After Intake</vt:lpstr>
      <vt:lpstr>EIA Streams</vt:lpstr>
      <vt:lpstr>EIA General Assistance</vt:lpstr>
      <vt:lpstr>EIA General Assistance</vt:lpstr>
      <vt:lpstr>EIA – GENERAL ASSISTANCE  - Work expectations</vt:lpstr>
      <vt:lpstr>Employment Expectations do not apply to:</vt:lpstr>
      <vt:lpstr>EIA – WORK INCENTIVE PROGRAM</vt:lpstr>
      <vt:lpstr>EIA – General assistance Money exempt</vt:lpstr>
      <vt:lpstr>EIA – GENERAL ASSISTANCE DON’ts</vt:lpstr>
      <vt:lpstr>EIA FOR SINGLE PARENTS</vt:lpstr>
      <vt:lpstr>EIA FOR SINGLE PARENTS – don’ts</vt:lpstr>
      <vt:lpstr>Medical Barriers to Full Employment -  Formerly Disability status</vt:lpstr>
      <vt:lpstr>EIA INTAKE – MBTE</vt:lpstr>
      <vt:lpstr>EIA – INTAKE FOR persons with a disability</vt:lpstr>
      <vt:lpstr>EIA – MBTE status Money exempt</vt:lpstr>
      <vt:lpstr>EIA – MBTE – VOLUNTEER ALLOWANCE</vt:lpstr>
      <vt:lpstr>EIA – Applying for CPP at age 60</vt:lpstr>
      <vt:lpstr>EIA – MB Supports</vt:lpstr>
      <vt:lpstr>EIA – Disability status don’ts</vt:lpstr>
      <vt:lpstr>EIA – How to represent yourself</vt:lpstr>
      <vt:lpstr>EIA – How to represent yourself</vt:lpstr>
      <vt:lpstr>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Fareedah Sulaiman- Olokodana</dc:creator>
  <cp:lastModifiedBy>Fareedah Sulaiman- Olokodana</cp:lastModifiedBy>
  <cp:revision>5</cp:revision>
  <dcterms:created xsi:type="dcterms:W3CDTF">2025-09-24T18:29:50Z</dcterms:created>
  <dcterms:modified xsi:type="dcterms:W3CDTF">2025-09-25T06:33:43Z</dcterms:modified>
</cp:coreProperties>
</file>